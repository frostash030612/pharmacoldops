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embeddedFontLst>
    <p:embeddedFont>
      <p:font typeface="Libre Baskerville" panose="02000000000000000000" pitchFamily="34" charset="0"/>
      <p:regular r:id="rId19"/>
    </p:embeddedFont>
    <p:embeddedFont>
      <p:font typeface="Libre Baskerville" panose="02000000000000000000" pitchFamily="34" charset="-122"/>
      <p:regular r:id="rId20"/>
    </p:embeddedFont>
    <p:embeddedFont>
      <p:font typeface="Libre Baskerville" panose="02000000000000000000" pitchFamily="34" charset="-120"/>
      <p:regular r:id="rId21"/>
    </p:embeddedFont>
    <p:embeddedFont>
      <p:font typeface="DM Sans" pitchFamily="34" charset="0"/>
      <p:regular r:id="rId22"/>
    </p:embeddedFont>
    <p:embeddedFont>
      <p:font typeface="DM Sans" pitchFamily="34" charset="-122"/>
      <p:regular r:id="rId23"/>
    </p:embeddedFont>
    <p:embeddedFont>
      <p:font typeface="DM Sans" pitchFamily="34" charset="-12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sv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38.png"/><Relationship Id="rId6" Type="http://schemas.openxmlformats.org/officeDocument/2006/relationships/image" Target="../media/image39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80741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PharmaColdOps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54859"/>
            <a:ext cx="6296860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 System for Temperature-Excursion Disposition and Delivery Re-routing in Cold-Chain Pharmaceuticals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Xu Wenzhe · [Member 2] · [Member 3] · [Member 4]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IRS Practice Module · Proposal Presentation · 13 Sep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6602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Cold-Chain Excursions Threaten Drug Safety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1369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28717" y="2256730"/>
            <a:ext cx="2663163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Temperature-Sensitive Products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0688"/>
            <a:ext cx="2663163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Vaccines, biologics, and insulin can lose efficacy with even minor temperature deviations during transport, warehousing, or airport dwell.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1369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71601" y="2256730"/>
            <a:ext cx="2663262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Manual, Inconsistent Decisions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0688"/>
            <a:ext cx="2663262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an excursion, release / quarantine / retest / scrap is decided manually — with no standardized logic or audit trail.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5715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28717" y="5052516"/>
            <a:ext cx="590614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One-Size-Fits-All Handling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61198"/>
            <a:ext cx="590614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Blanket policies cause excessive scrapping of salvageable product — or worse, improper release of compromised batches.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4394"/>
            <a:ext cx="10868745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Why It Matters: The Cost of Getting It Wrong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23716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77555"/>
            <a:ext cx="253993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Quality Leads &amp; QA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86237"/>
            <a:ext cx="2539936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compliant, explainable, and fully traceable disposition decisions that hold up under scrutiny.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23716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77555"/>
            <a:ext cx="2540036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Logistics Dispatchers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481513"/>
            <a:ext cx="2540036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replacement stock identified and delivery routes re-planned — fast, before patient supply is disrupted.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23716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77555"/>
            <a:ext cx="2540036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Compliance &amp; Auditors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481513"/>
            <a:ext cx="2540036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the full decision chain, regulatory basis, and documentation ready for EU GDP / ICH audit at any moment.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23716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77555"/>
            <a:ext cx="254003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Patients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86237"/>
            <a:ext cx="2540036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 on correct outcomes — fewer improper releases of degraded product, and fewer supply shortages.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736798"/>
            <a:ext cx="1231373" cy="287139"/>
          </a:xfrm>
          <a:prstGeom prst="roundRect">
            <a:avLst>
              <a:gd name="adj" fmla="val 22118"/>
            </a:avLst>
          </a:prstGeom>
          <a:solidFill>
            <a:srgbClr val="F7EDD4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746605" y="793452"/>
            <a:ext cx="1614149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099542"/>
            <a:ext cx="6903269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Where Existing Tools Fall Short</a:t>
            </a:r>
            <a:endParaRPr lang="en-US" sz="3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493466"/>
            <a:ext cx="2175019" cy="3627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9205" y="2707878"/>
            <a:ext cx="16446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Record, Not Decide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49205" y="3487440"/>
            <a:ext cx="1644609" cy="21169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Spreadsheets and simple alarms log the deviation — but cannot answer </a:t>
            </a: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"stop this batch?"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"reroute where?"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227" y="2493466"/>
            <a:ext cx="2175118" cy="36277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3231" y="2707878"/>
            <a:ext cx="16447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Disconnected Workflows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313231" y="3487440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Disposition decisions and logistics re-routing exist in separate, siloed systems with no automated handoff.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1353" y="2493466"/>
            <a:ext cx="2175118" cy="36277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356" y="2707878"/>
            <a:ext cx="1644708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Black-Box AI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677356" y="3192165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Opaque ML models are not trusted by quality leads or auditors — explainability is non-negotiable in regulated environments.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3058"/>
            <a:ext cx="6296860" cy="1122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Our Solution: PharmaColdOps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031305"/>
            <a:ext cx="6296860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closed-loop decision system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acts the moment an excursion is detected — with full regulatory grounding and audit readiness.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783384"/>
            <a:ext cx="6296860" cy="3421559"/>
          </a:xfrm>
          <a:prstGeom prst="roundRect">
            <a:avLst>
              <a:gd name="adj" fmla="val 220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23971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62849" y="0"/>
                </a:moveTo>
                <a:lnTo>
                  <a:pt x="3142080" y="0"/>
                </a:lnTo>
                <a:lnTo>
                  <a:pt x="3142080" y="2124770"/>
                </a:lnTo>
                <a:lnTo>
                  <a:pt x="0" y="2124770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F7EDD4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10263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Explainable Disposition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0263" y="3623568"/>
            <a:ext cx="2545096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Release / quarantine / retest / scrap / reshipment (derived flag) — with a traceable rule path every time.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8179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124770"/>
                </a:lnTo>
                <a:lnTo>
                  <a:pt x="0" y="2124770"/>
                </a:lnTo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381790" y="2789734"/>
            <a:ext cx="25399" cy="2124770"/>
          </a:xfrm>
          <a:prstGeom prst="roundRect">
            <a:avLst>
              <a:gd name="adj" fmla="val 50001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808222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Automated Re-routing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08222" y="3623568"/>
            <a:ext cx="2545096" cy="1120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Replacement stock allocation and optimized delivery re-routing generated automatically.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9710" y="4914503"/>
            <a:ext cx="6284160" cy="1284089"/>
          </a:xfrm>
          <a:custGeom>
            <a:avLst/>
            <a:gdLst/>
            <a:ahLst/>
            <a:cxnLst/>
            <a:rect l="l" t="t" r="r" b="b"/>
            <a:pathLst>
              <a:path w="6284160" h="1284089">
                <a:moveTo>
                  <a:pt x="0" y="0"/>
                </a:moveTo>
                <a:lnTo>
                  <a:pt x="6284160" y="0"/>
                </a:lnTo>
                <a:lnTo>
                  <a:pt x="6284160" y="1221239"/>
                </a:lnTo>
                <a:arcTo wR="62849" hR="62850" stAng="0" swAng="5400000"/>
                <a:lnTo>
                  <a:pt x="62849" y="1284089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239710" y="491450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410263" y="5085060"/>
            <a:ext cx="5687176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Regulatory Grounding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410263" y="5467846"/>
            <a:ext cx="5687176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anchored in WHO / EU GDP / ICH rules — quantitatively evaluable and audit-ready.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57363" y="3627636"/>
            <a:ext cx="448854" cy="448866"/>
          </a:xfrm>
          <a:prstGeom prst="roundRect">
            <a:avLst>
              <a:gd name="adj" fmla="val 16802"/>
            </a:avLst>
          </a:prstGeom>
          <a:solidFill>
            <a:srgbClr val="FFFDFA"/>
          </a:solidFill>
          <a:ln w="25399">
            <a:solidFill>
              <a:srgbClr val="DDD3BA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9577" y="3739753"/>
            <a:ext cx="224427" cy="2244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9065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System Architecture: End-to-End Pipeline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773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190187"/>
            <a:ext cx="1642940" cy="588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Ingest &amp; Normalize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862220"/>
            <a:ext cx="1642940" cy="941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 sensor, GPS, order, inventory, vehicle, stability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743038"/>
            <a:ext cx="1642940" cy="588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Detect Excursion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415070"/>
            <a:ext cx="1642940" cy="7060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MKT and predict excursion risk (30–60 min lead time)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190187"/>
            <a:ext cx="1642940" cy="294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Rule Engine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568042"/>
            <a:ext cx="1642940" cy="941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Disposition: release, quarantine, retest, scrap, reship (derived)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2743038"/>
            <a:ext cx="1642941" cy="588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Root-Cause Diagnosis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15070"/>
            <a:ext cx="1642941" cy="7060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 anomalies to equipment and events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190187"/>
            <a:ext cx="1642940" cy="294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Optimiser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568042"/>
            <a:ext cx="1642940" cy="7060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Re-route reshipment orders via VRPTW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306417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Input: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Sensor · GPS · Order · Inventory · Vehicle · Stability data →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Output: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Disposition + Re-routed routes + Audit report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405"/>
            <a:ext cx="10868745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Technique Mapping: All Four IRS Groups Covered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04727"/>
            <a:ext cx="5339820" cy="2009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2233216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886174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Decision Automation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294856"/>
            <a:ext cx="491100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engine for release / quarantine / retest / scrap / reshipment (derived flag) with full rule-path traceability.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2104727"/>
            <a:ext cx="5339919" cy="20093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233216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886174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Resource Optimisation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294856"/>
            <a:ext cx="49111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Genetic algorithm and OR-Tools CP-SAT solving cold-chain Vehicle Routing with Time Windows (VRPTW).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303117"/>
            <a:ext cx="5339820" cy="20093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431605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5084564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Knowledge Discovery &amp; Mining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493246"/>
            <a:ext cx="491100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prediction, root-cause classification, and risk grading from historical excursion data.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4303117"/>
            <a:ext cx="5339919" cy="20093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431605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5084564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Cognitive Systems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493246"/>
            <a:ext cx="49111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graph with natural-language compliance Q&amp;A and explainable audit report generation.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066"/>
            <a:ext cx="10868745" cy="429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Four Modules, One Closed Loop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7017"/>
            <a:ext cx="5003278" cy="500340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0823" y="2619970"/>
            <a:ext cx="2589941" cy="11128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45386" y="2639020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Rule Engine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45386" y="2953742"/>
            <a:ext cx="2395378" cy="760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disposition carries a full rule path — e.g. </a:t>
            </a:r>
            <a:r>
              <a:rPr lang="en-US" sz="10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"2–8°C product @ 12°C for 35 min &gt; 30 min threshold → quarantine."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6629" y="2619970"/>
            <a:ext cx="2589941" cy="11128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1192" y="2639020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141192" y="2953742"/>
            <a:ext cx="2395378" cy="760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LightGBM / XGBoost for risk scoring and root-cause classification. SHAP values ensure every prediction is explainable.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0823" y="3894634"/>
            <a:ext cx="2589941" cy="9228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45386" y="3913684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Optimisation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45386" y="4228405"/>
            <a:ext cx="2395378" cy="570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VRPTW solver handles time windows, multi-temperature zones, and stockout priority simultaneously.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6629" y="3894634"/>
            <a:ext cx="2589941" cy="9228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1192" y="3913684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Knowledge Graph &amp; Q&amp;A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141192" y="4228405"/>
            <a:ext cx="2395378" cy="570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Entities — product, route, event, rule, SOP — linked to deliver grounded, auditable natural-language answers.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970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Sources: Public, Downloadable Datasets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1064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 Chain Silent Failure (Kaggle)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514600"/>
            <a:ext cx="275672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~8,000 rows — risk prediction and failure classification across cold-chain shipments.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81064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Vaccine Distribution w/ Temp Logging (Kaggle)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~26,700 rows — anomaly detection and Mean Kinetic Temperature (MKT) computation.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81064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Electric Sheep Africa Dataset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30,000 rows — facility and route-level anomaly detection across a synthetic (simulated) vaccine cold-chain network.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CVRPLIB Benchmarks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806255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VRP benchmark instances for validating the re-routing solver against established baselines.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Domain Rules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TRS 961 Annex 9 · EU GDP 2013/C 343/01 · ICH Quality Guidelines — the authoritative regulatory foundation.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699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Evaluation: Layered, Quantitative Metrics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5862"/>
            <a:ext cx="4199924" cy="42000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6640" y="1479848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83188" y="1399580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 Prediction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83188" y="1756767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Accuracy, F1, AUC, PR-AUC, and warning lead time before excursion onset.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86640" y="2514302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83188" y="2434034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Disposition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83188" y="2791222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Macro-F1 and Cohen's kappa benchmarked against a human-labelled gold standard.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86640" y="3548757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83188" y="3468489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Root Cause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188" y="3825677"/>
            <a:ext cx="5053382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Top-1 and Top-3 accuracy with macro-F1 across failure-cause classes.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86640" y="4365526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83188" y="4285258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Optimisation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188" y="4642445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On-time delivery rate, cost and waste reduction vs. greedy and CP-SAT baselines.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6640" y="5399980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83188" y="5319713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System Level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83188" y="5676900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Explainability score, end-to-end response time, and audit-report completeness.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Scoped MVP &amp; Seven-Week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89498" y="1068388"/>
            <a:ext cx="12700" cy="4637782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01850" y="1200249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57639" y="1068388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03725" y="1091456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1110555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1350367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Proposal submission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21356" y="1851323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57639" y="1719461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03725" y="1742529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10095" y="1761629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10095" y="2001441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ingestion &amp; rule library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01850" y="2443659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57639" y="2311797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03725" y="2334865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2353965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1475" y="2593777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Rule-engine MVP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21356" y="3035995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57639" y="2904133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03725" y="2927201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10095" y="2946301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0095" y="3186113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pipeline v1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01850" y="3628330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57639" y="3496469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03725" y="3519537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1475" y="3538637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475" y="3778448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Optimise &amp; explain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21356" y="4220666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957639" y="4088805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003725" y="4111873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6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710095" y="4130973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10095" y="4370784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&amp; demo video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01850" y="4813002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957639" y="4681141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003725" y="4704209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61475" y="4723309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1475" y="4963120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delivery — 25 Oct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1475" y="5795963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05" y="5913140"/>
            <a:ext cx="153488" cy="12283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60622" y="5906393"/>
            <a:ext cx="10346768" cy="324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MVP Scope:</a:t>
            </a: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Single-city (Singapore) network · 1–2 product classes · Rule engine first, then greedy → OR-Tools / GA. Excluded: ERP/WMS integration, real IoT hardware, real patient data.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754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Risks, Team &amp;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03871"/>
            <a:ext cx="5476043" cy="3102074"/>
          </a:xfrm>
          <a:prstGeom prst="roundRect">
            <a:avLst>
              <a:gd name="adj" fmla="val 4387"/>
            </a:avLst>
          </a:prstGeom>
          <a:solidFill>
            <a:srgbClr val="063E5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4357" y="1792883"/>
            <a:ext cx="509802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 Mitigations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2310209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8605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Small data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cross-validation and augmentation strategies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2329" y="2310209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5737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Rule complexity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scoped to 1–2 product classes for MVP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3897908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8605" y="3888482"/>
            <a:ext cx="4483782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Scope creep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hard MVP boundary enforced from Week 0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32776" y="1792883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Team Roles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32776" y="2348012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6332776" y="2633266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Immediate Next Steps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332776" y="3117552"/>
            <a:ext cx="5203794" cy="1039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and download all datasets by end of Week 0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rule-engine v1 against WHO / EU GDP rules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proposal by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13 September 2026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893171"/>
            <a:ext cx="2565336" cy="12604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281" y="4918571"/>
            <a:ext cx="2300131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Lead / Rules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Xu Wenzhe: rule engine design &amp; regulatory mapping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246" y="4893171"/>
            <a:ext cx="2565435" cy="1260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67745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&amp; ML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[Member 2]: risk prediction, root-cause classification, SHAP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8515" y="4893171"/>
            <a:ext cx="2565435" cy="12604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5372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Optimisation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[Member 3]: VRPTW solver, genetic algorithm, CP-SAT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4785" y="4893171"/>
            <a:ext cx="2565435" cy="12604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229990" y="4918571"/>
            <a:ext cx="230023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KG + QA + Frontend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[Member 4]: knowledge graph, Q&amp;A interface, audit UI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5837</Words>
  <Application>WPS 文字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DM Sans Bold</vt:lpstr>
      <vt:lpstr>苹方-简</vt:lpstr>
      <vt:lpstr>DM Sans Bold</vt:lpstr>
      <vt:lpstr>DM Sans Bold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WPS_1644542747</cp:lastModifiedBy>
  <cp:revision>2</cp:revision>
  <dcterms:created xsi:type="dcterms:W3CDTF">2026-09-07T12:38:13Z</dcterms:created>
  <dcterms:modified xsi:type="dcterms:W3CDTF">2026-09-07T12:38:13Z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98ADED99883AC23F35B09E6A84D1409B_43</vt:lpwstr>
  </property>
  <property fmtid="{D5CDD505-2E9C-101B-9397-08002B2CF9AE}" pid="3" name="KSOProductBuildVer">
    <vt:lpwstr>2052-12.1.26055.26055</vt:lpwstr>
  </property>
</Properties>
</file>