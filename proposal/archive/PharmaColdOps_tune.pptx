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3.svg" ContentType="image/svg+xml"/>
  <Override PartName="/ppt/media/image16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365" cy="6858000"/>
  <p:notesSz cx="6858000" cy="12191365"/>
  <p:embeddedFontLst>
    <p:embeddedFont>
      <p:font typeface="Libre Baskerville" panose="02000000000000000000" pitchFamily="34" charset="0"/>
      <p:regular r:id="rId19"/>
    </p:embeddedFont>
    <p:embeddedFont>
      <p:font typeface="Libre Baskerville" panose="02000000000000000000" pitchFamily="34" charset="-122"/>
      <p:regular r:id="rId20"/>
    </p:embeddedFont>
    <p:embeddedFont>
      <p:font typeface="Libre Baskerville" panose="02000000000000000000" pitchFamily="34" charset="-120"/>
      <p:regular r:id="rId21"/>
    </p:embeddedFont>
    <p:embeddedFont>
      <p:font typeface="DM Sans" pitchFamily="34" charset="0"/>
      <p:regular r:id="rId22"/>
    </p:embeddedFont>
    <p:embeddedFont>
      <p:font typeface="DM Sans" pitchFamily="34" charset="-122"/>
      <p:regular r:id="rId23"/>
    </p:embeddedFont>
    <p:embeddedFont>
      <p:font typeface="DM Sans" pitchFamily="34" charset="-12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A"/>
          </a:solidFill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0.png"/><Relationship Id="rId5" Type="http://schemas.openxmlformats.org/officeDocument/2006/relationships/image" Target="../media/image21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svg"/><Relationship Id="rId3" Type="http://schemas.openxmlformats.org/officeDocument/2006/relationships/image" Target="../media/image24.png"/><Relationship Id="rId4" Type="http://schemas.openxmlformats.org/officeDocument/2006/relationships/image" Target="../media/image25.svg"/><Relationship Id="rId5" Type="http://schemas.openxmlformats.org/officeDocument/2006/relationships/image" Target="../media/image26.png"/><Relationship Id="rId6" Type="http://schemas.openxmlformats.org/officeDocument/2006/relationships/image" Target="../media/image27.svg"/><Relationship Id="rId7" Type="http://schemas.openxmlformats.org/officeDocument/2006/relationships/image" Target="../media/image28.png"/><Relationship Id="rId8" Type="http://schemas.openxmlformats.org/officeDocument/2006/relationships/image" Target="../media/image29.svg"/><Relationship Id="rId9" Type="http://schemas.openxmlformats.org/officeDocument/2006/relationships/image" Target="../media/image30.png"/><Relationship Id="rId10" Type="http://schemas.openxmlformats.org/officeDocument/2006/relationships/image" Target="../media/image31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svg"/><Relationship Id="rId3" Type="http://schemas.openxmlformats.org/officeDocument/2006/relationships/image" Target="../media/image36.png"/><Relationship Id="rId4" Type="http://schemas.openxmlformats.org/officeDocument/2006/relationships/image" Target="../media/image37.svg"/><Relationship Id="rId5" Type="http://schemas.openxmlformats.org/officeDocument/2006/relationships/image" Target="../media/image38.png"/><Relationship Id="rId6" Type="http://schemas.openxmlformats.org/officeDocument/2006/relationships/image" Target="../media/image39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7EDD4"/>
          </a:solidFill>
        </p:spPr>
        <p:txBody>
          <a:bodyPr/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280741"/>
            <a:ext cx="6296860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PharmaColdOps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154859"/>
            <a:ext cx="6296860" cy="142230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Intelligent System for Temperature-Excursion Disposition and Delivery Re-routing in Cold-Chain Pharmaceuticals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Xu Wenzhe · [Member 2] · [Member 3] · [Member 4]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IRS Practice Module · Proposal Presentation · 13 Sep 2026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7EDD4"/>
          </a:solidFill>
        </p:spPr>
        <p:txBody>
          <a:bodyPr/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96602"/>
            <a:ext cx="6296860" cy="11812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Cold-Chain Excursions Threaten Drug Safety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061369"/>
            <a:ext cx="3053877" cy="2606774"/>
          </a:xfrm>
          <a:prstGeom prst="roundRect">
            <a:avLst>
              <a:gd name="adj" fmla="val 304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428717" y="2256730"/>
            <a:ext cx="2663163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Temperature-Sensitive Products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2960688"/>
            <a:ext cx="2663163" cy="15120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Vaccines, biologics, and insulin can lose efficacy with even minor temperature deviations during transport, warehousing, or airport dwell.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061369"/>
            <a:ext cx="3053976" cy="2606774"/>
          </a:xfrm>
          <a:prstGeom prst="roundRect">
            <a:avLst>
              <a:gd name="adj" fmla="val 304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671601" y="2256730"/>
            <a:ext cx="2663262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Manual, Inconsistent Decisions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71601" y="2960688"/>
            <a:ext cx="2663262" cy="15120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After an excursion, release / quarantine / retest / scrap is decided manually — with no standardized logic or audit trail.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857155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428717" y="5052516"/>
            <a:ext cx="590614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One-Size-Fits-All Handling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5461198"/>
            <a:ext cx="5906146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Blanket policies cause excessive scrapping of salvageable product — or worse, improper release of compromised batches.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64394"/>
            <a:ext cx="10868745" cy="11812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Why It Matters: The Cost of Getting It Wrong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423716"/>
            <a:ext cx="1117572" cy="111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777555"/>
            <a:ext cx="253993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Quality Leads &amp; QA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186237"/>
            <a:ext cx="2539936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Need compliant, explainable, and fully traceable disposition decisions that hold up under scrutiny.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2423716"/>
            <a:ext cx="1117572" cy="1117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777555"/>
            <a:ext cx="2540036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Logistics Dispatchers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4481513"/>
            <a:ext cx="2540036" cy="15120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Need replacement stock identified and delivery routes re-planned — fast, before patient supply is disrupted.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2423716"/>
            <a:ext cx="1117572" cy="1117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777555"/>
            <a:ext cx="2540036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Compliance &amp; Auditors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4481513"/>
            <a:ext cx="2540036" cy="15120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Need the full decision chain, regulatory basis, and documentation ready for EU GDP / ICH audit at any moment.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2423716"/>
            <a:ext cx="1117572" cy="1117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777555"/>
            <a:ext cx="254003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Patients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4186237"/>
            <a:ext cx="2540036" cy="15120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Depend on correct outcomes — fewer improper releases of degraded product, and fewer supply shortages.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33201" y="736798"/>
            <a:ext cx="1231373" cy="287139"/>
          </a:xfrm>
          <a:prstGeom prst="roundRect">
            <a:avLst>
              <a:gd name="adj" fmla="val 22118"/>
            </a:avLst>
          </a:prstGeom>
          <a:solidFill>
            <a:srgbClr val="F7EDD4"/>
          </a:solidFill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746605" y="793452"/>
            <a:ext cx="1614149" cy="1738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GAP ANALYSIS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33201" y="1099542"/>
            <a:ext cx="6903269" cy="11812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Where Existing Tools Fall Short</a:t>
            </a:r>
            <a:endParaRPr lang="en-US" sz="3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3201" y="2493466"/>
            <a:ext cx="2175019" cy="36277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49205" y="2707878"/>
            <a:ext cx="1644609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Record, Not Decide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949205" y="3487440"/>
            <a:ext cx="1644609" cy="211693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Spreadsheets and simple alarms log the deviation — but cannot answer </a:t>
            </a:r>
            <a:r>
              <a:rPr lang="en-US" sz="1450" i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"stop this batch?"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or </a:t>
            </a:r>
            <a:r>
              <a:rPr lang="en-US" sz="1450" i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"reroute where?"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97227" y="2493466"/>
            <a:ext cx="2175118" cy="36277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13231" y="2707878"/>
            <a:ext cx="1644708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Disconnected Workflows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7313231" y="3487440"/>
            <a:ext cx="1644708" cy="24193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Disposition decisions and logistics re-routing exist in separate, siloed systems with no automated handoff.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61353" y="2493466"/>
            <a:ext cx="2175118" cy="362773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77356" y="2707878"/>
            <a:ext cx="1644708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Black-Box AI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677356" y="3192165"/>
            <a:ext cx="1644708" cy="24193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Opaque ML models are not trusted by quality leads or auditors — explainability is non-negotiable in regulated environments.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7EDD4"/>
          </a:solidFill>
        </p:spPr>
        <p:txBody>
          <a:bodyPr/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92" y="134541"/>
            <a:ext cx="4392503" cy="65889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53058"/>
            <a:ext cx="6296860" cy="11223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Our Solution: PharmaColdOps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233360" y="2031305"/>
            <a:ext cx="6296860" cy="56018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</a:t>
            </a:r>
            <a:r>
              <a:rPr lang="en-US" sz="14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closed-loop decision system</a:t>
            </a: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that acts the moment an excursion is detected — with full regulatory grounding and audit readiness.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233360" y="2783384"/>
            <a:ext cx="6296860" cy="3421559"/>
          </a:xfrm>
          <a:prstGeom prst="roundRect">
            <a:avLst>
              <a:gd name="adj" fmla="val 2204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5239710" y="2789734"/>
            <a:ext cx="3142080" cy="2124770"/>
          </a:xfrm>
          <a:custGeom>
            <a:avLst/>
            <a:gdLst/>
            <a:ahLst/>
            <a:cxnLst/>
            <a:rect l="l" t="t" r="r" b="b"/>
            <a:pathLst>
              <a:path w="3142080" h="2124770">
                <a:moveTo>
                  <a:pt x="62849" y="0"/>
                </a:moveTo>
                <a:lnTo>
                  <a:pt x="3142080" y="0"/>
                </a:lnTo>
                <a:lnTo>
                  <a:pt x="3142080" y="2124770"/>
                </a:lnTo>
                <a:lnTo>
                  <a:pt x="0" y="2124770"/>
                </a:lnTo>
                <a:lnTo>
                  <a:pt x="0" y="62850"/>
                </a:lnTo>
                <a:arcTo wR="62849" hR="62850" stAng="10800000" swAng="5400000"/>
                <a:close/>
              </a:path>
            </a:pathLst>
          </a:custGeom>
          <a:solidFill>
            <a:srgbClr val="F7EDD4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410263" y="2960291"/>
            <a:ext cx="2545096" cy="56098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Explainable Disposition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410263" y="3623568"/>
            <a:ext cx="2545096" cy="8402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Release / quarantine / retest / scrap / reshipment (derived flag) — with a traceable rule path every time.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381790" y="2789734"/>
            <a:ext cx="3142080" cy="2124770"/>
          </a:xfrm>
          <a:custGeom>
            <a:avLst/>
            <a:gdLst/>
            <a:ahLst/>
            <a:cxnLst/>
            <a:rect l="l" t="t" r="r" b="b"/>
            <a:pathLst>
              <a:path w="3142080" h="2124770">
                <a:moveTo>
                  <a:pt x="0" y="0"/>
                </a:moveTo>
                <a:lnTo>
                  <a:pt x="3079231" y="0"/>
                </a:lnTo>
                <a:arcTo wR="62849" hR="62850" stAng="16200000" swAng="5400000"/>
                <a:lnTo>
                  <a:pt x="3142080" y="2124770"/>
                </a:lnTo>
                <a:lnTo>
                  <a:pt x="0" y="2124770"/>
                </a:lnTo>
                <a:lnTo>
                  <a:pt x="0" y="0"/>
                </a:lnTo>
                <a:close/>
              </a:path>
            </a:pathLst>
          </a:custGeom>
          <a:solidFill>
            <a:srgbClr val="F7EDD4"/>
          </a:solidFill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381790" y="2789734"/>
            <a:ext cx="25399" cy="2124770"/>
          </a:xfrm>
          <a:prstGeom prst="roundRect">
            <a:avLst>
              <a:gd name="adj" fmla="val 50001"/>
            </a:avLst>
          </a:prstGeom>
          <a:solidFill>
            <a:srgbClr val="DDD3BA"/>
          </a:solidFill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808222" y="2960291"/>
            <a:ext cx="2545096" cy="56098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Automated Re-routing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8808222" y="3623568"/>
            <a:ext cx="2545096" cy="112037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Replacement stock allocation and optimized delivery re-routing generated automatically.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239710" y="4914503"/>
            <a:ext cx="6284160" cy="1284089"/>
          </a:xfrm>
          <a:custGeom>
            <a:avLst/>
            <a:gdLst/>
            <a:ahLst/>
            <a:cxnLst/>
            <a:rect l="l" t="t" r="r" b="b"/>
            <a:pathLst>
              <a:path w="6284160" h="1284089">
                <a:moveTo>
                  <a:pt x="0" y="0"/>
                </a:moveTo>
                <a:lnTo>
                  <a:pt x="6284160" y="0"/>
                </a:lnTo>
                <a:lnTo>
                  <a:pt x="6284160" y="1221239"/>
                </a:lnTo>
                <a:arcTo wR="62849" hR="62850" stAng="0" swAng="5400000"/>
                <a:lnTo>
                  <a:pt x="62849" y="1284089"/>
                </a:lnTo>
                <a:arcTo wR="62849" hR="62850" stAng="5400000" swAng="5400000"/>
                <a:lnTo>
                  <a:pt x="0" y="0"/>
                </a:lnTo>
                <a:close/>
              </a:path>
            </a:pathLst>
          </a:custGeom>
          <a:solidFill>
            <a:srgbClr val="F7EDD4"/>
          </a:solidFill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5239710" y="4914503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DDD3BA"/>
          </a:solidFill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410263" y="5085060"/>
            <a:ext cx="5687176" cy="2804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Regulatory Grounding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5410263" y="5467846"/>
            <a:ext cx="5687176" cy="56018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decision anchored in WHO / EU GDP / ICH rules — quantitatively evaluable and audit-ready.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157363" y="3627636"/>
            <a:ext cx="448854" cy="448866"/>
          </a:xfrm>
          <a:prstGeom prst="roundRect">
            <a:avLst>
              <a:gd name="adj" fmla="val 16802"/>
            </a:avLst>
          </a:prstGeom>
          <a:solidFill>
            <a:srgbClr val="FFFDFA"/>
          </a:solidFill>
          <a:ln w="25399">
            <a:solidFill>
              <a:srgbClr val="DDD3BA"/>
            </a:solidFill>
            <a:prstDash val="solid"/>
          </a:ln>
        </p:spPr>
        <p:txBody>
          <a:bodyPr/>
          <a:p/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69577" y="3739753"/>
            <a:ext cx="224427" cy="2244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49065"/>
            <a:ext cx="10868745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System Architecture: End-to-End Pipeline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17738"/>
            <a:ext cx="10868745" cy="28760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99780" y="3190187"/>
            <a:ext cx="1642940" cy="58835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Ingest &amp; Normalize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499780" y="3862220"/>
            <a:ext cx="1642940" cy="9413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Collect sensor, GPS, order, inventory, vehicle, stability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3382469" y="2743038"/>
            <a:ext cx="1642940" cy="58835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Detect Excursion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3382469" y="3415070"/>
            <a:ext cx="1642940" cy="70602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Compute MKT and classify transport-level silent-failure risk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265158" y="3190187"/>
            <a:ext cx="1642940" cy="2941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Rule Engine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265158" y="3568042"/>
            <a:ext cx="1642940" cy="9413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Disposition: release, quarantine, retest, scrap, reship (derived)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147847" y="2743038"/>
            <a:ext cx="1642941" cy="58835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Root-Cause Diagnosis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147847" y="3415070"/>
            <a:ext cx="1642941" cy="70602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Link anomalies to equipment and events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9040996" y="3190187"/>
            <a:ext cx="1642940" cy="2941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Optimiser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9040996" y="3568042"/>
            <a:ext cx="1642940" cy="70602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Re-route reshipment orders via VRPTW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61475" y="5306417"/>
            <a:ext cx="11478330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Input: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Sensor · GPS · Order · Inventory · Vehicle · Stability data → </a:t>
            </a: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Output: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Disposition + Re-routed routes + Audit report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5405"/>
            <a:ext cx="10868745" cy="11812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Technique Mapping: All Four IRS Groups Covered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104727"/>
            <a:ext cx="5339820" cy="20093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89605" y="2233216"/>
            <a:ext cx="283461" cy="3544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75881" y="2886174"/>
            <a:ext cx="4911007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Decision Automation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3294856"/>
            <a:ext cx="4911007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Rule engine for release / quarantine / retest / scrap / reshipment (derived flag) with full rule-path traceability.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90301" y="2104727"/>
            <a:ext cx="5339919" cy="20093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18530" y="2233216"/>
            <a:ext cx="283461" cy="3544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404708" y="2886174"/>
            <a:ext cx="491110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Resource Optimisation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404708" y="3294856"/>
            <a:ext cx="4911106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OR-Tools Routing Solver with guided local search on cold-chain Vehicle Routing with Time Windows (VRPTW).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4303117"/>
            <a:ext cx="5339820" cy="200937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189605" y="4431605"/>
            <a:ext cx="283461" cy="3544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875881" y="5084564"/>
            <a:ext cx="4911007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Knowledge Discovery &amp; Mining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75881" y="5493246"/>
            <a:ext cx="4911007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Risk prediction, root-cause classification, and risk grading from historical excursion data.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90301" y="4303117"/>
            <a:ext cx="5339919" cy="200937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18530" y="4431605"/>
            <a:ext cx="283461" cy="3544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6404708" y="5084564"/>
            <a:ext cx="491110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Cognitive Systems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6404708" y="5493246"/>
            <a:ext cx="4911106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Knowledge graph with natural-language compliance Q&amp;A and explainable audit report generation.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066"/>
            <a:ext cx="10868745" cy="4296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Four Modules, One Closed Loop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17017"/>
            <a:ext cx="5003278" cy="500340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0823" y="2619970"/>
            <a:ext cx="2589941" cy="11128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45386" y="2639020"/>
            <a:ext cx="2395378" cy="2148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Rule Engine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445386" y="2953742"/>
            <a:ext cx="2395378" cy="7600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disposition carries a full rule path — e.g. </a:t>
            </a:r>
            <a:r>
              <a:rPr lang="en-US" sz="1050" i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"2–8°C product @ 12°C for 35 min &gt; 30 min threshold → quarantine."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46629" y="2619970"/>
            <a:ext cx="2589941" cy="11128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41192" y="2639020"/>
            <a:ext cx="2395378" cy="2148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Machine Learning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9141192" y="2953742"/>
            <a:ext cx="2395378" cy="7600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LightGBM / XGBoost for risk scoring and root-cause classification. SHAP values ensure every prediction is explainable.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0823" y="3894634"/>
            <a:ext cx="2589941" cy="92283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45386" y="3913684"/>
            <a:ext cx="2395378" cy="2148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Optimisation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6445386" y="4228405"/>
            <a:ext cx="2395378" cy="5700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VRPTW solver handles time windows, multi-temperature zones, and stockout priority simultaneously.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46629" y="3894634"/>
            <a:ext cx="2589941" cy="92283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141192" y="3913684"/>
            <a:ext cx="2395378" cy="2148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Knowledge Graph &amp; Q&amp;A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9141192" y="4228405"/>
            <a:ext cx="2395378" cy="5700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Entities — product, route, event, rule, SOP — linked to deliver grounded, auditable natural-language answers.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1970"/>
            <a:ext cx="10868745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Data Sources: Public, Downloadable Datasets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810643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1810643"/>
            <a:ext cx="2756724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Cold Chain Silent Failure (Kaggle)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2514600"/>
            <a:ext cx="2756724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~8,000 rows — risk prediction and failure classification across cold-chain shipments.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1810643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1836" y="1810643"/>
            <a:ext cx="2756724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Vaccine Distribution w/ Temp Logging (Kaggle)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071836" y="2514600"/>
            <a:ext cx="2756724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~26,700 rows — anomaly detection and Mean Kinetic Temperature (MKT) computation.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1810643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73496" y="1810643"/>
            <a:ext cx="2756724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Electric Sheep Africa Dataset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773496" y="2514600"/>
            <a:ext cx="2756724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30,000 rows — facility and route-level anomaly detection across a synthetic (simulated) vaccine cold-chain network.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70177" y="4102298"/>
            <a:ext cx="2756724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CVRPLIB Benchmarks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370177" y="4806255"/>
            <a:ext cx="2756724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 VRP benchmark instances for validating the re-routing solver against established baselines.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3135" y="4102298"/>
            <a:ext cx="472468" cy="4724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71836" y="4102298"/>
            <a:ext cx="2756724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Domain Rules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5071836" y="4510980"/>
            <a:ext cx="2756724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 TRS 961 Annex 9 · EU GDP 2013/C 343/01 · ICH Quality Guidelines — the authoritative regulatory foundation.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9699"/>
            <a:ext cx="10868745" cy="4724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Evaluation: Layered, Quantitative Metrics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55862"/>
            <a:ext cx="4199924" cy="420002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86640" y="1479848"/>
            <a:ext cx="75603" cy="75605"/>
          </a:xfrm>
          <a:prstGeom prst="ellipse">
            <a:avLst/>
          </a:prstGeom>
          <a:solidFill>
            <a:srgbClr val="B88E23"/>
          </a:solidFill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483188" y="1399580"/>
            <a:ext cx="5053382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Risk Prediction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483188" y="1756767"/>
            <a:ext cx="5053382" cy="4353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Accuracy, F1, ROC-AUC and PR-AUC, against a majority-class baseline.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286640" y="2514302"/>
            <a:ext cx="75603" cy="75605"/>
          </a:xfrm>
          <a:prstGeom prst="ellipse">
            <a:avLst/>
          </a:prstGeom>
          <a:solidFill>
            <a:srgbClr val="B88E23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483188" y="2434034"/>
            <a:ext cx="5053382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Disposition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483188" y="2791222"/>
            <a:ext cx="5053382" cy="4353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Macro-F1 and Cohen's kappa benchmarked against a human-labelled gold standard.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86640" y="3548757"/>
            <a:ext cx="75603" cy="75605"/>
          </a:xfrm>
          <a:prstGeom prst="ellipse">
            <a:avLst/>
          </a:prstGeom>
          <a:solidFill>
            <a:srgbClr val="B88E23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483188" y="3468489"/>
            <a:ext cx="5053382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Root Cause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483188" y="3825677"/>
            <a:ext cx="5053382" cy="2176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Top-1 and Top-3 accuracy with macro-F1 across failure-cause classes.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86640" y="4365526"/>
            <a:ext cx="75603" cy="75605"/>
          </a:xfrm>
          <a:prstGeom prst="ellipse">
            <a:avLst/>
          </a:prstGeom>
          <a:solidFill>
            <a:srgbClr val="B88E2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483188" y="4285258"/>
            <a:ext cx="5053382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Optimisation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483188" y="4642445"/>
            <a:ext cx="5053382" cy="4353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On-time delivery rate, cost and waste reduction vs. the greedy baseline.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86640" y="5399980"/>
            <a:ext cx="75603" cy="75605"/>
          </a:xfrm>
          <a:prstGeom prst="ellipse">
            <a:avLst/>
          </a:prstGeom>
          <a:solidFill>
            <a:srgbClr val="B88E23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483188" y="5319713"/>
            <a:ext cx="5053382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System Level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483188" y="5676900"/>
            <a:ext cx="5053382" cy="4353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Explainability score, end-to-end response time, and audit-report completeness.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839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Scoped MVP &amp; Seven-Week Plan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089498" y="1068388"/>
            <a:ext cx="12700" cy="4637782"/>
          </a:xfrm>
          <a:prstGeom prst="roundRect">
            <a:avLst>
              <a:gd name="adj" fmla="val 49999"/>
            </a:avLst>
          </a:prstGeom>
          <a:solidFill>
            <a:srgbClr val="DDD3BA"/>
          </a:solidFill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01850" y="1200249"/>
            <a:ext cx="368489" cy="12700"/>
          </a:xfrm>
          <a:prstGeom prst="roundRect">
            <a:avLst>
              <a:gd name="adj" fmla="val 49999"/>
            </a:avLst>
          </a:prstGeom>
          <a:solidFill>
            <a:srgbClr val="DDD3BA"/>
          </a:solidFill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57639" y="1068388"/>
            <a:ext cx="276417" cy="276423"/>
          </a:xfrm>
          <a:prstGeom prst="roundRect">
            <a:avLst>
              <a:gd name="adj" fmla="val 18668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003725" y="1091456"/>
            <a:ext cx="184245" cy="2302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1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1110555"/>
            <a:ext cx="4820125" cy="1919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W0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1475" y="1350367"/>
            <a:ext cx="4820125" cy="1621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Proposal submission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21356" y="1851323"/>
            <a:ext cx="368489" cy="12700"/>
          </a:xfrm>
          <a:prstGeom prst="roundRect">
            <a:avLst>
              <a:gd name="adj" fmla="val 49999"/>
            </a:avLst>
          </a:prstGeom>
          <a:solidFill>
            <a:srgbClr val="DDD3BA"/>
          </a:solidFill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957639" y="1719461"/>
            <a:ext cx="276417" cy="276423"/>
          </a:xfrm>
          <a:prstGeom prst="roundRect">
            <a:avLst>
              <a:gd name="adj" fmla="val 18668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03725" y="1742529"/>
            <a:ext cx="184245" cy="2302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2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710095" y="1761629"/>
            <a:ext cx="4820125" cy="1919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W1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10095" y="2001441"/>
            <a:ext cx="4820125" cy="1621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ingestion &amp; rule library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01850" y="2443659"/>
            <a:ext cx="368489" cy="12700"/>
          </a:xfrm>
          <a:prstGeom prst="roundRect">
            <a:avLst>
              <a:gd name="adj" fmla="val 49999"/>
            </a:avLst>
          </a:prstGeom>
          <a:solidFill>
            <a:srgbClr val="DDD3BA"/>
          </a:solidFill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57639" y="2311797"/>
            <a:ext cx="276417" cy="276423"/>
          </a:xfrm>
          <a:prstGeom prst="roundRect">
            <a:avLst>
              <a:gd name="adj" fmla="val 18668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003725" y="2334865"/>
            <a:ext cx="184245" cy="2302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61475" y="2353965"/>
            <a:ext cx="4820125" cy="1919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W2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1475" y="2593777"/>
            <a:ext cx="4820125" cy="1621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Rule-engine MVP live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21356" y="3035995"/>
            <a:ext cx="368489" cy="12700"/>
          </a:xfrm>
          <a:prstGeom prst="roundRect">
            <a:avLst>
              <a:gd name="adj" fmla="val 49999"/>
            </a:avLst>
          </a:prstGeom>
          <a:solidFill>
            <a:srgbClr val="DDD3BA"/>
          </a:solidFill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57639" y="2904133"/>
            <a:ext cx="276417" cy="276423"/>
          </a:xfrm>
          <a:prstGeom prst="roundRect">
            <a:avLst>
              <a:gd name="adj" fmla="val 18668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003725" y="2927201"/>
            <a:ext cx="184245" cy="2302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710095" y="2946301"/>
            <a:ext cx="4820125" cy="1919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W3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10095" y="3186113"/>
            <a:ext cx="4820125" cy="1621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End-to-end pipeline v1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01850" y="3628330"/>
            <a:ext cx="368489" cy="12700"/>
          </a:xfrm>
          <a:prstGeom prst="roundRect">
            <a:avLst>
              <a:gd name="adj" fmla="val 49999"/>
            </a:avLst>
          </a:prstGeom>
          <a:solidFill>
            <a:srgbClr val="DDD3BA"/>
          </a:solidFill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957639" y="3496469"/>
            <a:ext cx="276417" cy="276423"/>
          </a:xfrm>
          <a:prstGeom prst="roundRect">
            <a:avLst>
              <a:gd name="adj" fmla="val 18668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003725" y="3519537"/>
            <a:ext cx="184245" cy="2302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5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61475" y="3538637"/>
            <a:ext cx="4820125" cy="1919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W4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1475" y="3778448"/>
            <a:ext cx="4820125" cy="1621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Optimise &amp; explain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21356" y="4220666"/>
            <a:ext cx="368489" cy="12700"/>
          </a:xfrm>
          <a:prstGeom prst="roundRect">
            <a:avLst>
              <a:gd name="adj" fmla="val 49999"/>
            </a:avLst>
          </a:prstGeom>
          <a:solidFill>
            <a:srgbClr val="DDD3BA"/>
          </a:solidFill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5957639" y="4088805"/>
            <a:ext cx="276417" cy="276423"/>
          </a:xfrm>
          <a:prstGeom prst="roundRect">
            <a:avLst>
              <a:gd name="adj" fmla="val 18668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003725" y="4111873"/>
            <a:ext cx="184245" cy="2302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6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710095" y="4130973"/>
            <a:ext cx="4820125" cy="1919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W5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10095" y="4370784"/>
            <a:ext cx="4820125" cy="1621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 &amp; demo video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601850" y="4813002"/>
            <a:ext cx="368489" cy="12700"/>
          </a:xfrm>
          <a:prstGeom prst="roundRect">
            <a:avLst>
              <a:gd name="adj" fmla="val 49999"/>
            </a:avLst>
          </a:prstGeom>
          <a:solidFill>
            <a:srgbClr val="DDD3BA"/>
          </a:solidFill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5957639" y="4681141"/>
            <a:ext cx="276417" cy="276423"/>
          </a:xfrm>
          <a:prstGeom prst="roundRect">
            <a:avLst>
              <a:gd name="adj" fmla="val 18668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003725" y="4704209"/>
            <a:ext cx="184245" cy="2302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7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661475" y="4723309"/>
            <a:ext cx="4820125" cy="1919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W6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1475" y="4963120"/>
            <a:ext cx="4820125" cy="1621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Final delivery — 25 Oct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61475" y="5795963"/>
            <a:ext cx="10868745" cy="537170"/>
          </a:xfrm>
          <a:prstGeom prst="roundRect">
            <a:avLst>
              <a:gd name="adj" fmla="val 9606"/>
            </a:avLst>
          </a:prstGeom>
          <a:solidFill>
            <a:srgbClr val="F7EDD4"/>
          </a:solidFill>
        </p:spPr>
        <p:txBody>
          <a:bodyPr/>
          <a:p/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305" y="5913140"/>
            <a:ext cx="153488" cy="122833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060622" y="5906393"/>
            <a:ext cx="10346768" cy="32424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MVP Scope:</a:t>
            </a:r>
            <a:r>
              <a:rPr lang="en-US" sz="9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Single-city (Singapore) network · 1–2 product classes · Rule engine first, then greedy → OR-Tools / GA. Excluded: ERP/WMS integration, real IoT hardware, real patient data.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9754"/>
            <a:ext cx="10868745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Risks, Team &amp; Next Steps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1603871"/>
            <a:ext cx="5476043" cy="3102074"/>
          </a:xfrm>
          <a:prstGeom prst="roundRect">
            <a:avLst>
              <a:gd name="adj" fmla="val 4387"/>
            </a:avLst>
          </a:prstGeom>
          <a:solidFill>
            <a:srgbClr val="063E5F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14357" y="1792883"/>
            <a:ext cx="5098029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Risk Mitigations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5198" y="2310209"/>
            <a:ext cx="283461" cy="2834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8605" y="2300784"/>
            <a:ext cx="1816650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Small data</a:t>
            </a:r>
            <a:r>
              <a:rPr lang="en-US" sz="14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cross-validation and augmentation strategies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52329" y="2310209"/>
            <a:ext cx="283461" cy="2834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95737" y="2300784"/>
            <a:ext cx="1816650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Rule complexity</a:t>
            </a:r>
            <a:r>
              <a:rPr lang="en-US" sz="14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scoped to 1–2 product classes for MVP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5198" y="3897908"/>
            <a:ext cx="283461" cy="2834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8605" y="3888482"/>
            <a:ext cx="4483782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Scope creep</a:t>
            </a:r>
            <a:r>
              <a:rPr lang="en-US" sz="14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hard MVP boundary enforced from Week 0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6332776" y="1792883"/>
            <a:ext cx="5203794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Team Roles</a:t>
            </a:r>
            <a:endParaRPr lang="en-US" sz="1850" dirty="0"/>
          </a:p>
        </p:txBody>
      </p:sp>
      <p:sp>
        <p:nvSpPr>
          <p:cNvPr id="12" name="Shape 7"/>
          <p:cNvSpPr/>
          <p:nvPr/>
        </p:nvSpPr>
        <p:spPr>
          <a:xfrm>
            <a:off x="6332776" y="2348012"/>
            <a:ext cx="5203794" cy="25400"/>
          </a:xfrm>
          <a:prstGeom prst="roundRect">
            <a:avLst>
              <a:gd name="adj" fmla="val 49999"/>
            </a:avLst>
          </a:prstGeom>
          <a:solidFill>
            <a:srgbClr val="454240">
              <a:alpha val="50000"/>
            </a:srgbClr>
          </a:solidFill>
        </p:spPr>
        <p:txBody>
          <a:bodyPr/>
          <a:p/>
        </p:txBody>
      </p:sp>
      <p:sp>
        <p:nvSpPr>
          <p:cNvPr id="13" name="Text 8"/>
          <p:cNvSpPr/>
          <p:nvPr/>
        </p:nvSpPr>
        <p:spPr>
          <a:xfrm>
            <a:off x="6332776" y="2633266"/>
            <a:ext cx="5203794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Immediate Next Steps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6332776" y="3117552"/>
            <a:ext cx="5203794" cy="10394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Confirm and download all datasets by end of Week 0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rule-engine v1 against WHO / EU GDP rules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Submit proposal by </a:t>
            </a: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13 September 2026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075" y="4893171"/>
            <a:ext cx="2565336" cy="12604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01281" y="4918571"/>
            <a:ext cx="2300131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Project Lead / Rules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Xu Wenzhe: rule engine design &amp; regulatory mapping</a:t>
            </a:r>
            <a:endParaRPr lang="en-US" sz="14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12246" y="4893171"/>
            <a:ext cx="2565435" cy="12604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677451" y="4918571"/>
            <a:ext cx="2300230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Data &amp; ML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[Member 2]: risk prediction, root-cause classification, SHAP</a:t>
            </a:r>
            <a:endParaRPr lang="en-US" sz="14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8515" y="4893171"/>
            <a:ext cx="2565435" cy="126047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453721" y="4918571"/>
            <a:ext cx="2300230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Optimisation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[Member 3]: VRPTW solver, OR-Tools routing (extensions optional)</a:t>
            </a:r>
            <a:endParaRPr lang="en-US" sz="14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64785" y="4893171"/>
            <a:ext cx="2565435" cy="126047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9229990" y="4918571"/>
            <a:ext cx="2300230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KG + QA + Frontend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[Member 4]: knowledge graph, Q&amp;A interface, audit UI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5837</Words>
  <Application>WPS 文字</Application>
  <PresentationFormat>On-screen Show (16:9)</PresentationFormat>
  <Paragraphs>254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5" baseType="lpstr">
      <vt:lpstr>Arial</vt:lpstr>
      <vt:lpstr>宋体</vt:lpstr>
      <vt:lpstr>Wingdings</vt:lpstr>
      <vt:lpstr>Libre Baskerville</vt:lpstr>
      <vt:lpstr>Libre Baskerville</vt:lpstr>
      <vt:lpstr>Libre Baskerville</vt:lpstr>
      <vt:lpstr>DM Sans</vt:lpstr>
      <vt:lpstr>DM Sans</vt:lpstr>
      <vt:lpstr>DM Sans</vt:lpstr>
      <vt:lpstr>DM Sans Bold</vt:lpstr>
      <vt:lpstr>苹方-简</vt:lpstr>
      <vt:lpstr>DM Sans Bold</vt:lpstr>
      <vt:lpstr>DM Sans Bold</vt:lpstr>
      <vt:lpstr>Calibri</vt:lpstr>
      <vt:lpstr>Helvetica Neue</vt:lpstr>
      <vt:lpstr>微软雅黑</vt:lpstr>
      <vt:lpstr>方正雅意黑 GB18030L2</vt:lpstr>
      <vt:lpstr>汉仪书宋二KW</vt:lpstr>
      <vt:lpstr>宋体</vt:lpstr>
      <vt:lpstr>Arial Unicode MS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WPS_1644542747</cp:lastModifiedBy>
  <cp:revision>2</cp:revision>
  <dcterms:created xsi:type="dcterms:W3CDTF">2026-09-07T12:38:13Z</dcterms:created>
  <dcterms:modified xsi:type="dcterms:W3CDTF">2026-09-07T12:38:13Z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98ADED99883AC23F35B09E6A84D1409B_43</vt:lpwstr>
  </property>
  <property fmtid="{D5CDD505-2E9C-101B-9397-08002B2CF9AE}" pid="3" name="KSOProductBuildVer">
    <vt:lpwstr>2052-12.1.26055.26055</vt:lpwstr>
  </property>
</Properties>
</file>