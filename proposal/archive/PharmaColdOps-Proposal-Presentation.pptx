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name]. Our project is PharmaColdOps — an intelligent decision system for cold-chain pharmaceuticals. I will start with the problem, then walk through the solution and how we will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Cold-chain products like vaccines are very sensitive to temperature. A single excursion during transport can make a batch unsafe. But today, the decision on what to do after an excursion is made manually, so it is inconsistent, and 'one-size-fits-all' rules lead to either throwing away good product or releasing bad product.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is real. Quality leads need decisions they can defend in an audit. Dispatchers need to know where replacement stock comes from and how to re-route it. Auditors need the full reasoning chain and the regulation behind each decision. And patients ultimately benefit from fewer bad releases and fewer stockouts.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exists today mostly just alarms. It records the excursion but does not reason about it. It will not tell you whether to stop the batch, where to get replacement stock, or how to re-route. And the disposition decision is completely disconnected from logistics. Black-box AI does not help either, because auditors will not trust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PharmaColdOps closes the loop. On a temperature excursion it does three things together: it issues an explainable disposition, it automatically plans replacement stock and re-routing, and it grounds every decision in the regulations. Crucially, it is explainable and traceable, so it is audit-ready, and everything is quantitatively evaluable.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pipeline. We ingest heterogeneous data, detect the excursion and compute the mean kinetic temperature, then a rule engine produces the disposition. A root-cause module links the anomaly to equipment or events. An optimiser re-routes the reshipment orders as a vehicle-routing problem. And finally a knowledge graph plus Q&amp;A explains why, and produces the audit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slide for the course. The project covers all four IRS technique groups — not just three. Decision automation through the rule engine, resource optimisation through the vehicle-routing solver, knowledge discovery through the machine-learning risk and root-cause models, and cognitive systems through the knowledge graph and Q&amp;A. This exceeds the minimum requirement of three.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briefly describe each module. The rule engine is fully transparent: every decision carries its rule path. The ML models use LightGBM and XGBoost with SHAP for interpretability. The optimiser models reshipment as a vehicle-routing problem with time windows. And the knowledge graph plus Q&amp;A gives grounded answers about which rule or SOP a decision relies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real, publicly available datasets, not fabricated data. The silent-failure dataset for risk prediction, the vaccine-distribution dataset for anomaly detection and MKT, and CVRPLIB for the routing benchmarks. The domain rules come from WHO, EU GDP and ICH guidance.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is layered, not just a single accuracy number. Risk prediction uses standard classification metrics. The disposition decision is scored against a human-labelled gold standard with Cohen's kappa — we build that gold standard from the WHO/GDP/ICH rules using two independent annotators, to avoid the circularity of evaluating rules against rules. Optimisation is compared against greedy and CP-SAT baselines. And at the system level we measure explainability, response time and audit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keep the MVP tightly scoped: a single-city network, one or two product classes, and we build the rule engine first because that is the core. Then we move from a greedy routing baseline to OR-Tools or a genetic algorithm. We explicitly exclude production ERP integration, real IoT hardware, and real patient data. The plan is seven weeks, from proposal now to final delivery on 25 October.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identified the main risks and mitigations. The team is four people, each owning one of the four technique groups. Our immediate next steps are to confirm the datasets and build the rule-engine MVP, and we submit the proposal by the 13th of September. Thank you —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75120"/>
            <a:ext cx="12191695" cy="1828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515600" cy="1097280"/>
          </a:xfrm>
          <a:prstGeom prst="rect">
            <a:avLst/>
          </a:prstGeom>
          <a:noFill/>
        </p:spPr>
        <p:txBody>
          <a:bodyPr wrap="square" anchor="t" lIns="0" rIns="0" tIns="0" bIns="0">
            <a:spAutoFit/>
          </a:bodyPr>
          <a:lstStyle/>
          <a:p>
            <a:pPr algn="ctr"/>
            <a:r>
              <a:rPr sz="6000" b="1">
                <a:solidFill>
                  <a:srgbClr val="1F3A5F"/>
                </a:solidFill>
                <a:latin typeface="Calibri"/>
              </a:rPr>
              <a:t>PharmaColdOps</a:t>
            </a:r>
          </a:p>
        </p:txBody>
      </p:sp>
      <p:sp>
        <p:nvSpPr>
          <p:cNvPr id="5" name="Rectangle 4"/>
          <p:cNvSpPr/>
          <p:nvPr/>
        </p:nvSpPr>
        <p:spPr>
          <a:xfrm>
            <a:off x="5093208" y="2971800"/>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246120"/>
            <a:ext cx="10515600" cy="1097280"/>
          </a:xfrm>
          <a:prstGeom prst="rect">
            <a:avLst/>
          </a:prstGeom>
          <a:noFill/>
        </p:spPr>
        <p:txBody>
          <a:bodyPr wrap="square" anchor="t" lIns="0" rIns="0" tIns="0" bIns="0">
            <a:spAutoFit/>
          </a:bodyPr>
          <a:lstStyle/>
          <a:p>
            <a:pPr algn="ctr"/>
            <a:r>
              <a:rPr sz="2000" b="0">
                <a:solidFill>
                  <a:srgbClr val="2E5A88"/>
                </a:solidFill>
                <a:latin typeface="Calibri"/>
              </a:rPr>
              <a:t>An Intelligent System for Temperature-Excursion Disposition</a:t>
            </a:r>
          </a:p>
          <a:p>
            <a:pPr algn="ctr"/>
            <a:r>
              <a:rPr sz="2000" b="0">
                <a:solidFill>
                  <a:srgbClr val="2E5A88"/>
                </a:solidFill>
                <a:latin typeface="Calibri"/>
              </a:rPr>
              <a:t>and Delivery Re-routing in Cold-Chain Pharmaceuticals</a:t>
            </a:r>
          </a:p>
        </p:txBody>
      </p:sp>
      <p:sp>
        <p:nvSpPr>
          <p:cNvPr id="7" name="TextBox 6"/>
          <p:cNvSpPr txBox="1"/>
          <p:nvPr/>
        </p:nvSpPr>
        <p:spPr>
          <a:xfrm>
            <a:off x="822960" y="4892040"/>
            <a:ext cx="10515600" cy="457200"/>
          </a:xfrm>
          <a:prstGeom prst="rect">
            <a:avLst/>
          </a:prstGeom>
          <a:noFill/>
        </p:spPr>
        <p:txBody>
          <a:bodyPr wrap="square" anchor="t" lIns="0" rIns="0" tIns="0" bIns="0">
            <a:spAutoFit/>
          </a:bodyPr>
          <a:lstStyle/>
          <a:p>
            <a:pPr algn="ctr"/>
            <a:r>
              <a:rPr sz="1600" b="0">
                <a:solidFill>
                  <a:srgbClr val="444444"/>
                </a:solidFill>
                <a:latin typeface="Calibri"/>
              </a:rPr>
              <a:t>Xu Wenzhe  ·  [Member 2]  ·  [Member 3]  ·  [Member 4]</a:t>
            </a:r>
          </a:p>
        </p:txBody>
      </p:sp>
      <p:sp>
        <p:nvSpPr>
          <p:cNvPr id="8" name="TextBox 7"/>
          <p:cNvSpPr txBox="1"/>
          <p:nvPr/>
        </p:nvSpPr>
        <p:spPr>
          <a:xfrm>
            <a:off x="822960" y="5349240"/>
            <a:ext cx="10515600" cy="457200"/>
          </a:xfrm>
          <a:prstGeom prst="rect">
            <a:avLst/>
          </a:prstGeom>
          <a:noFill/>
        </p:spPr>
        <p:txBody>
          <a:bodyPr wrap="square" anchor="t" lIns="0" rIns="0" tIns="0" bIns="0">
            <a:spAutoFit/>
          </a:bodyPr>
          <a:lstStyle/>
          <a:p>
            <a:pPr algn="ctr"/>
            <a:r>
              <a:rPr sz="1300" b="0">
                <a:solidFill>
                  <a:srgbClr val="7A7A7A"/>
                </a:solidFill>
                <a:latin typeface="Calibri"/>
              </a:rPr>
              <a:t>IRS Practice Module  ·  Proposal Presentation  ·  13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The Problem: Cold-Chain Excursions Threaten Drug Safety</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2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Vaccines, biologics and insulin are highly temperature-sensitive</a:t>
            </a:r>
          </a:p>
          <a:p>
            <a:pPr>
              <a:spcAft>
                <a:spcPts val="900"/>
              </a:spcAft>
            </a:pPr>
            <a:r>
              <a:rPr sz="1200" b="1">
                <a:solidFill>
                  <a:srgbClr val="0B84A5"/>
                </a:solidFill>
              </a:rPr>
              <a:t>●  </a:t>
            </a:r>
            <a:r>
              <a:rPr sz="1800">
                <a:solidFill>
                  <a:srgbClr val="222222"/>
                </a:solidFill>
                <a:latin typeface="Calibri"/>
              </a:rPr>
              <a:t>A deviation during transport, warehousing or airport dwell can compromise safety and efficacy</a:t>
            </a:r>
          </a:p>
          <a:p>
            <a:pPr>
              <a:spcAft>
                <a:spcPts val="900"/>
              </a:spcAft>
            </a:pPr>
            <a:r>
              <a:rPr sz="1200" b="1">
                <a:solidFill>
                  <a:srgbClr val="0B84A5"/>
                </a:solidFill>
              </a:rPr>
              <a:t>●  </a:t>
            </a:r>
            <a:r>
              <a:rPr sz="1800">
                <a:solidFill>
                  <a:srgbClr val="222222"/>
                </a:solidFill>
                <a:latin typeface="Calibri"/>
              </a:rPr>
              <a:t>After an excursion, release / quarantine / retest / scrap is decided manually — inconsistently</a:t>
            </a:r>
          </a:p>
          <a:p>
            <a:pPr>
              <a:spcAft>
                <a:spcPts val="900"/>
              </a:spcAft>
            </a:pPr>
            <a:r>
              <a:rPr sz="1200" b="1">
                <a:solidFill>
                  <a:srgbClr val="0B84A5"/>
                </a:solidFill>
              </a:rPr>
              <a:t>●  </a:t>
            </a:r>
            <a:r>
              <a:rPr sz="1800">
                <a:solidFill>
                  <a:srgbClr val="222222"/>
                </a:solidFill>
                <a:latin typeface="Calibri"/>
              </a:rPr>
              <a:t>"One-size-fits-all" handling causes excessive scrapping or improper release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Why It Matters: The Cost of Getting It Wrong</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3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Quality leads / QA — need compliant, explainable, traceable disposition decisions</a:t>
            </a:r>
          </a:p>
          <a:p>
            <a:pPr>
              <a:spcAft>
                <a:spcPts val="900"/>
              </a:spcAft>
            </a:pPr>
            <a:r>
              <a:rPr sz="1200" b="1">
                <a:solidFill>
                  <a:srgbClr val="0B84A5"/>
                </a:solidFill>
              </a:rPr>
              <a:t>●  </a:t>
            </a:r>
            <a:r>
              <a:rPr sz="1800">
                <a:solidFill>
                  <a:srgbClr val="222222"/>
                </a:solidFill>
                <a:latin typeface="Calibri"/>
              </a:rPr>
              <a:t>Logistics dispatchers — need replacement stock and re-routed routes, fast</a:t>
            </a:r>
          </a:p>
          <a:p>
            <a:pPr>
              <a:spcAft>
                <a:spcPts val="900"/>
              </a:spcAft>
            </a:pPr>
            <a:r>
              <a:rPr sz="1200" b="1">
                <a:solidFill>
                  <a:srgbClr val="0B84A5"/>
                </a:solidFill>
              </a:rPr>
              <a:t>●  </a:t>
            </a:r>
            <a:r>
              <a:rPr sz="1800">
                <a:solidFill>
                  <a:srgbClr val="222222"/>
                </a:solidFill>
                <a:latin typeface="Calibri"/>
              </a:rPr>
              <a:t>Compliance / auditors — need the full decision chain and regulatory basis</a:t>
            </a:r>
          </a:p>
          <a:p>
            <a:pPr>
              <a:spcAft>
                <a:spcPts val="900"/>
              </a:spcAft>
            </a:pPr>
            <a:r>
              <a:rPr sz="1200" b="1">
                <a:solidFill>
                  <a:srgbClr val="0B84A5"/>
                </a:solidFill>
              </a:rPr>
              <a:t>●  </a:t>
            </a:r>
            <a:r>
              <a:rPr sz="1800">
                <a:solidFill>
                  <a:srgbClr val="222222"/>
                </a:solidFill>
                <a:latin typeface="Calibri"/>
              </a:rPr>
              <a:t>Patients — fewer improper releases and fewer shortages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Where Existing Tools Fall Short</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4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Spreadsheets and simple alarms record the deviation, but cannot meet WHO / EU GDP / ICH audit needs</a:t>
            </a:r>
          </a:p>
          <a:p>
            <a:pPr>
              <a:spcAft>
                <a:spcPts val="900"/>
              </a:spcAft>
            </a:pPr>
            <a:r>
              <a:rPr sz="1200" b="1">
                <a:solidFill>
                  <a:srgbClr val="0B84A5"/>
                </a:solidFill>
              </a:rPr>
              <a:t>●  </a:t>
            </a:r>
            <a:r>
              <a:rPr sz="1800">
                <a:solidFill>
                  <a:srgbClr val="222222"/>
                </a:solidFill>
                <a:latin typeface="Calibri"/>
              </a:rPr>
              <a:t>They alert, but do not answer: "stop this batch?" "where is replacement stock?" "what new route?"</a:t>
            </a:r>
          </a:p>
          <a:p>
            <a:pPr>
              <a:spcAft>
                <a:spcPts val="900"/>
              </a:spcAft>
            </a:pPr>
            <a:r>
              <a:rPr sz="1200" b="1">
                <a:solidFill>
                  <a:srgbClr val="0B84A5"/>
                </a:solidFill>
              </a:rPr>
              <a:t>●  </a:t>
            </a:r>
            <a:r>
              <a:rPr sz="1800">
                <a:solidFill>
                  <a:srgbClr val="222222"/>
                </a:solidFill>
                <a:latin typeface="Calibri"/>
              </a:rPr>
              <a:t>Disposition decision and logistics re-routing are disconnected</a:t>
            </a:r>
          </a:p>
          <a:p>
            <a:pPr>
              <a:spcAft>
                <a:spcPts val="900"/>
              </a:spcAft>
            </a:pPr>
            <a:r>
              <a:rPr sz="1200" b="1">
                <a:solidFill>
                  <a:srgbClr val="0B84A5"/>
                </a:solidFill>
              </a:rPr>
              <a:t>●  </a:t>
            </a:r>
            <a:r>
              <a:rPr sz="1800">
                <a:solidFill>
                  <a:srgbClr val="222222"/>
                </a:solidFill>
                <a:latin typeface="Calibri"/>
              </a:rPr>
              <a:t>Black-box AI is not trusted by quality leads or auditors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Our Solution: PharmaColdOps — A Closed-Loop Decision System</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5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On an excursion: issue an explainable disposition — release / quarantine / retest / scrap, plus a derived reshipment flag</a:t>
            </a:r>
          </a:p>
          <a:p>
            <a:pPr>
              <a:spcAft>
                <a:spcPts val="900"/>
              </a:spcAft>
            </a:pPr>
            <a:r>
              <a:rPr sz="1200" b="1">
                <a:solidFill>
                  <a:srgbClr val="0B84A5"/>
                </a:solidFill>
              </a:rPr>
              <a:t>●  </a:t>
            </a:r>
            <a:r>
              <a:rPr sz="1800">
                <a:solidFill>
                  <a:srgbClr val="222222"/>
                </a:solidFill>
                <a:latin typeface="Calibri"/>
              </a:rPr>
              <a:t>Automatically generate replacement-stock allocation and delivery re-routing</a:t>
            </a:r>
          </a:p>
          <a:p>
            <a:pPr>
              <a:spcAft>
                <a:spcPts val="900"/>
              </a:spcAft>
            </a:pPr>
            <a:r>
              <a:rPr sz="1200" b="1">
                <a:solidFill>
                  <a:srgbClr val="0B84A5"/>
                </a:solidFill>
              </a:rPr>
              <a:t>●  </a:t>
            </a:r>
            <a:r>
              <a:rPr sz="1800">
                <a:solidFill>
                  <a:srgbClr val="222222"/>
                </a:solidFill>
                <a:latin typeface="Calibri"/>
              </a:rPr>
              <a:t>Ground every decision in WHO / EU GDP / ICH rules</a:t>
            </a:r>
          </a:p>
          <a:p>
            <a:pPr>
              <a:spcAft>
                <a:spcPts val="900"/>
              </a:spcAft>
            </a:pPr>
            <a:r>
              <a:rPr sz="1200" b="1">
                <a:solidFill>
                  <a:srgbClr val="0B84A5"/>
                </a:solidFill>
              </a:rPr>
              <a:t>●  </a:t>
            </a:r>
            <a:r>
              <a:rPr sz="1800">
                <a:solidFill>
                  <a:srgbClr val="222222"/>
                </a:solidFill>
                <a:latin typeface="Calibri"/>
              </a:rPr>
              <a:t>Explainable, traceable, audit-ready — and quantitatively evaluable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System Architecture: End-to-End Pipeline</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6 / 12</a:t>
            </a:r>
          </a:p>
        </p:txBody>
      </p:sp>
      <p:sp>
        <p:nvSpPr>
          <p:cNvPr id="7" name="Rounded Rectangle 6"/>
          <p:cNvSpPr/>
          <p:nvPr/>
        </p:nvSpPr>
        <p:spPr>
          <a:xfrm>
            <a:off x="1707184" y="1444752"/>
            <a:ext cx="8778240" cy="475488"/>
          </a:xfrm>
          <a:prstGeom prst="roundRect">
            <a:avLst>
              <a:gd name="adj" fmla="val 16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300" b="1">
                <a:solidFill>
                  <a:srgbClr val="FFFFFF"/>
                </a:solidFill>
                <a:latin typeface="Calibri"/>
              </a:rPr>
              <a:t>INPUT   ·   sensor  ·  GPS  ·  order  ·  inventory  ·  vehicle  ·  stability data</a:t>
            </a:r>
          </a:p>
        </p:txBody>
      </p:sp>
      <p:sp>
        <p:nvSpPr>
          <p:cNvPr id="8" name="Rounded Rectangle 7"/>
          <p:cNvSpPr/>
          <p:nvPr/>
        </p:nvSpPr>
        <p:spPr>
          <a:xfrm>
            <a:off x="1707184" y="2066544"/>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Ingest data  ·  normalise timestamps &amp; device IDs</a:t>
            </a:r>
          </a:p>
        </p:txBody>
      </p:sp>
      <p:sp>
        <p:nvSpPr>
          <p:cNvPr id="9" name="Oval 8"/>
          <p:cNvSpPr/>
          <p:nvPr/>
        </p:nvSpPr>
        <p:spPr>
          <a:xfrm>
            <a:off x="1561049177616" y="21070408100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1</a:t>
            </a:r>
          </a:p>
        </p:txBody>
      </p:sp>
      <p:sp>
        <p:nvSpPr>
          <p:cNvPr id="10" name="Down Arrow 9"/>
          <p:cNvSpPr/>
          <p:nvPr/>
        </p:nvSpPr>
        <p:spPr>
          <a:xfrm>
            <a:off x="5986576" y="2542032"/>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707184" y="2688336"/>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Detect excursion  ·  compute MKT  ·  classify transport-level silent-failure risk</a:t>
            </a:r>
          </a:p>
        </p:txBody>
      </p:sp>
      <p:sp>
        <p:nvSpPr>
          <p:cNvPr id="12" name="Oval 11"/>
          <p:cNvSpPr/>
          <p:nvPr/>
        </p:nvSpPr>
        <p:spPr>
          <a:xfrm>
            <a:off x="1561049177616" y="26756074148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2</a:t>
            </a:r>
          </a:p>
        </p:txBody>
      </p:sp>
      <p:sp>
        <p:nvSpPr>
          <p:cNvPr id="13" name="Down Arrow 12"/>
          <p:cNvSpPr/>
          <p:nvPr/>
        </p:nvSpPr>
        <p:spPr>
          <a:xfrm>
            <a:off x="5986576" y="3163824"/>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707184" y="3310128"/>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Rule engine → disposition  (release / quarantine / retest / scrap + derived reshipment flag)</a:t>
            </a:r>
          </a:p>
        </p:txBody>
      </p:sp>
      <p:sp>
        <p:nvSpPr>
          <p:cNvPr id="15" name="Oval 14"/>
          <p:cNvSpPr/>
          <p:nvPr/>
        </p:nvSpPr>
        <p:spPr>
          <a:xfrm>
            <a:off x="1561049177616" y="32441740196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3</a:t>
            </a:r>
          </a:p>
        </p:txBody>
      </p:sp>
      <p:sp>
        <p:nvSpPr>
          <p:cNvPr id="16" name="Down Arrow 15"/>
          <p:cNvSpPr/>
          <p:nvPr/>
        </p:nvSpPr>
        <p:spPr>
          <a:xfrm>
            <a:off x="5986576" y="3785616"/>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707184" y="3931920"/>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Root-cause diagnosis → link anomaly to equipment / events</a:t>
            </a:r>
          </a:p>
        </p:txBody>
      </p:sp>
      <p:sp>
        <p:nvSpPr>
          <p:cNvPr id="18" name="Oval 17"/>
          <p:cNvSpPr/>
          <p:nvPr/>
        </p:nvSpPr>
        <p:spPr>
          <a:xfrm>
            <a:off x="1561049177616" y="38127406244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4</a:t>
            </a:r>
          </a:p>
        </p:txBody>
      </p:sp>
      <p:sp>
        <p:nvSpPr>
          <p:cNvPr id="19" name="Down Arrow 18"/>
          <p:cNvSpPr/>
          <p:nvPr/>
        </p:nvSpPr>
        <p:spPr>
          <a:xfrm>
            <a:off x="5986576" y="4407408"/>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707184" y="4553712"/>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Optimiser → re-route reshipment orders  (VRPTW)</a:t>
            </a:r>
          </a:p>
        </p:txBody>
      </p:sp>
      <p:sp>
        <p:nvSpPr>
          <p:cNvPr id="21" name="Oval 20"/>
          <p:cNvSpPr/>
          <p:nvPr/>
        </p:nvSpPr>
        <p:spPr>
          <a:xfrm>
            <a:off x="1561049177616" y="4381307229239"/>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5</a:t>
            </a:r>
          </a:p>
        </p:txBody>
      </p:sp>
      <p:sp>
        <p:nvSpPr>
          <p:cNvPr id="22" name="Down Arrow 21"/>
          <p:cNvSpPr/>
          <p:nvPr/>
        </p:nvSpPr>
        <p:spPr>
          <a:xfrm>
            <a:off x="5986576" y="5029200"/>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707184" y="5175504"/>
            <a:ext cx="8778240" cy="475488"/>
          </a:xfrm>
          <a:prstGeom prst="roundRect">
            <a:avLst>
              <a:gd name="adj" fmla="val 14000"/>
            </a:avLst>
          </a:prstGeom>
          <a:solidFill>
            <a:srgbClr val="FFFFFF"/>
          </a:solidFill>
          <a:ln w="19050">
            <a:solidFill>
              <a:srgbClr val="2E5A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0" rIns="137160" tIns="18288" bIns="18288"/>
          <a:lstStyle/>
          <a:p>
            <a:pPr algn="l"/>
            <a:r>
              <a:rPr sz="1300">
                <a:solidFill>
                  <a:srgbClr val="2E5A88"/>
                </a:solidFill>
                <a:latin typeface="Calibri"/>
              </a:rPr>
              <a:t>Knowledge graph + Q&amp;A → “why” + audit report</a:t>
            </a:r>
          </a:p>
        </p:txBody>
      </p:sp>
      <p:sp>
        <p:nvSpPr>
          <p:cNvPr id="24" name="Oval 23"/>
          <p:cNvSpPr/>
          <p:nvPr/>
        </p:nvSpPr>
        <p:spPr>
          <a:xfrm>
            <a:off x="1561049177616" y="4949873834040"/>
            <a:ext cx="274320" cy="274320"/>
          </a:xfrm>
          <a:prstGeom prst="ellipse">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Calibri"/>
              </a:rPr>
              <a:t>6</a:t>
            </a:r>
          </a:p>
        </p:txBody>
      </p:sp>
      <p:sp>
        <p:nvSpPr>
          <p:cNvPr id="25" name="Down Arrow 24"/>
          <p:cNvSpPr/>
          <p:nvPr/>
        </p:nvSpPr>
        <p:spPr>
          <a:xfrm>
            <a:off x="5986576" y="5650992"/>
            <a:ext cx="219456" cy="137160"/>
          </a:xfrm>
          <a:prstGeom prst="downArrow">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707184" y="6748272"/>
            <a:ext cx="8778240" cy="475488"/>
          </a:xfrm>
          <a:prstGeom prst="roundRect">
            <a:avLst>
              <a:gd name="adj" fmla="val 16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8288" bIns="18288"/>
          <a:lstStyle/>
          <a:p>
            <a:pPr algn="ctr"/>
            <a:r>
              <a:rPr sz="1300" b="1">
                <a:solidFill>
                  <a:srgbClr val="FFFFFF"/>
                </a:solidFill>
                <a:latin typeface="Calibri"/>
              </a:rPr>
              <a:t>OUTPUT   ·   disposition  +  re-routed routes  +  audit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Technique Mapping: Covering All Four IRS Technique Groups</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7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Decision automation — rule engine for release / quarantine / retest / scrap, plus a derived reshipment flag</a:t>
            </a:r>
          </a:p>
          <a:p>
            <a:pPr>
              <a:spcAft>
                <a:spcPts val="900"/>
              </a:spcAft>
            </a:pPr>
            <a:r>
              <a:rPr sz="1200" b="1">
                <a:solidFill>
                  <a:srgbClr val="0B84A5"/>
                </a:solidFill>
              </a:rPr>
              <a:t>●  </a:t>
            </a:r>
            <a:r>
              <a:rPr sz="1800">
                <a:solidFill>
                  <a:srgbClr val="222222"/>
                </a:solidFill>
                <a:latin typeface="Calibri"/>
              </a:rPr>
              <a:t>Resource optimisation — OR-Tools Routing Solver for cold-chain VRPTW</a:t>
            </a:r>
          </a:p>
          <a:p>
            <a:pPr>
              <a:spcAft>
                <a:spcPts val="900"/>
              </a:spcAft>
            </a:pPr>
            <a:r>
              <a:rPr sz="1200" b="1">
                <a:solidFill>
                  <a:srgbClr val="0B84A5"/>
                </a:solidFill>
              </a:rPr>
              <a:t>●  </a:t>
            </a:r>
            <a:r>
              <a:rPr sz="1800">
                <a:solidFill>
                  <a:srgbClr val="222222"/>
                </a:solidFill>
                <a:latin typeface="Calibri"/>
              </a:rPr>
              <a:t>Knowledge discovery &amp; data mining — risk prediction, root-cause classification, risk grading</a:t>
            </a:r>
          </a:p>
          <a:p>
            <a:pPr>
              <a:spcAft>
                <a:spcPts val="900"/>
              </a:spcAft>
            </a:pPr>
            <a:r>
              <a:rPr sz="1200" b="1">
                <a:solidFill>
                  <a:srgbClr val="0B84A5"/>
                </a:solidFill>
              </a:rPr>
              <a:t>●  </a:t>
            </a:r>
            <a:r>
              <a:rPr sz="1800">
                <a:solidFill>
                  <a:srgbClr val="222222"/>
                </a:solidFill>
                <a:latin typeface="Calibri"/>
              </a:rPr>
              <a:t>Cognitive systems — knowledge graph + natural-language compliance Q&amp;A + explainable audit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Four Modules, One Loop</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8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Rule engine — every decision carries a rule path (e.g. "2–8°C @ 12°C for 35 min &gt; 30 min → quarantine")</a:t>
            </a:r>
          </a:p>
          <a:p>
            <a:pPr>
              <a:spcAft>
                <a:spcPts val="900"/>
              </a:spcAft>
            </a:pPr>
            <a:r>
              <a:rPr sz="1200" b="1">
                <a:solidFill>
                  <a:srgbClr val="0B84A5"/>
                </a:solidFill>
              </a:rPr>
              <a:t>●  </a:t>
            </a:r>
            <a:r>
              <a:rPr sz="1800">
                <a:solidFill>
                  <a:srgbClr val="222222"/>
                </a:solidFill>
                <a:latin typeface="Calibri"/>
              </a:rPr>
              <a:t>Machine learning — LightGBM / XGBoost for risk + root cause, SHAP for explanation</a:t>
            </a:r>
          </a:p>
          <a:p>
            <a:pPr>
              <a:spcAft>
                <a:spcPts val="900"/>
              </a:spcAft>
            </a:pPr>
            <a:r>
              <a:rPr sz="1200" b="1">
                <a:solidFill>
                  <a:srgbClr val="0B84A5"/>
                </a:solidFill>
              </a:rPr>
              <a:t>●  </a:t>
            </a:r>
            <a:r>
              <a:rPr sz="1800">
                <a:solidFill>
                  <a:srgbClr val="222222"/>
                </a:solidFill>
                <a:latin typeface="Calibri"/>
              </a:rPr>
              <a:t>Optimisation — VRPTW with time windows, multi-temperature zones, stockout priority</a:t>
            </a:r>
          </a:p>
          <a:p>
            <a:pPr>
              <a:spcAft>
                <a:spcPts val="900"/>
              </a:spcAft>
            </a:pPr>
            <a:r>
              <a:rPr sz="1200" b="1">
                <a:solidFill>
                  <a:srgbClr val="0B84A5"/>
                </a:solidFill>
              </a:rPr>
              <a:t>●  </a:t>
            </a:r>
            <a:r>
              <a:rPr sz="1800">
                <a:solidFill>
                  <a:srgbClr val="222222"/>
                </a:solidFill>
                <a:latin typeface="Calibri"/>
              </a:rPr>
              <a:t>Knowledge graph + Q&amp;A — entities: product, route, event, rule, SOP → grounded answers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Data Sources: Real, Downloadable Data</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9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Cold Chain Silent Failure (~8k rows) — risk prediction &amp; failure classification</a:t>
            </a:r>
          </a:p>
          <a:p>
            <a:pPr>
              <a:spcAft>
                <a:spcPts val="900"/>
              </a:spcAft>
            </a:pPr>
            <a:r>
              <a:rPr sz="1200" b="1">
                <a:solidFill>
                  <a:srgbClr val="0B84A5"/>
                </a:solidFill>
              </a:rPr>
              <a:t>●  </a:t>
            </a:r>
            <a:r>
              <a:rPr sz="1800">
                <a:solidFill>
                  <a:srgbClr val="222222"/>
                </a:solidFill>
                <a:latin typeface="Calibri"/>
              </a:rPr>
              <a:t>Vaccine Distribution w/ Temperature Logging (~26.7k rows) — anomaly detection &amp; MKT</a:t>
            </a:r>
          </a:p>
          <a:p>
            <a:pPr>
              <a:spcAft>
                <a:spcPts val="900"/>
              </a:spcAft>
            </a:pPr>
            <a:r>
              <a:rPr sz="1200" b="1">
                <a:solidFill>
                  <a:srgbClr val="0B84A5"/>
                </a:solidFill>
              </a:rPr>
              <a:t>●  </a:t>
            </a:r>
            <a:r>
              <a:rPr sz="1800">
                <a:solidFill>
                  <a:srgbClr val="222222"/>
                </a:solidFill>
                <a:latin typeface="Calibri"/>
              </a:rPr>
              <a:t>Electric Sheep Africa vaccine-cold-chain (30k rows) — facility / route anomaly</a:t>
            </a:r>
          </a:p>
          <a:p>
            <a:pPr>
              <a:spcAft>
                <a:spcPts val="900"/>
              </a:spcAft>
            </a:pPr>
            <a:r>
              <a:rPr sz="1200" b="1">
                <a:solidFill>
                  <a:srgbClr val="0B84A5"/>
                </a:solidFill>
              </a:rPr>
              <a:t>●  </a:t>
            </a:r>
            <a:r>
              <a:rPr sz="1800">
                <a:solidFill>
                  <a:srgbClr val="222222"/>
                </a:solidFill>
                <a:latin typeface="Calibri"/>
              </a:rPr>
              <a:t>CVRPLIB — standard VRP benchmarks for the re-routing solver</a:t>
            </a:r>
          </a:p>
          <a:p>
            <a:pPr>
              <a:spcAft>
                <a:spcPts val="900"/>
              </a:spcAft>
            </a:pPr>
            <a:r>
              <a:rPr sz="1200" b="1">
                <a:solidFill>
                  <a:srgbClr val="0B84A5"/>
                </a:solidFill>
              </a:rPr>
              <a:t>●  </a:t>
            </a:r>
            <a:r>
              <a:rPr sz="1800">
                <a:solidFill>
                  <a:srgbClr val="222222"/>
                </a:solidFill>
                <a:latin typeface="Calibri"/>
              </a:rPr>
              <a:t>Domain rules: WHO TRS 961 Annex 9 · EU GDP 2013/C 343/01 · ICH Quality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Evaluation: Layered, Quantitative Metrics</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10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Risk prediction — accuracy, F1, ROC-AUC, PR-AUC and the majority-class baseline</a:t>
            </a:r>
          </a:p>
          <a:p>
            <a:pPr>
              <a:spcAft>
                <a:spcPts val="900"/>
              </a:spcAft>
            </a:pPr>
            <a:r>
              <a:rPr sz="1200" b="1">
                <a:solidFill>
                  <a:srgbClr val="0B84A5"/>
                </a:solidFill>
              </a:rPr>
              <a:t>●  </a:t>
            </a:r>
            <a:r>
              <a:rPr sz="1800">
                <a:solidFill>
                  <a:srgbClr val="222222"/>
                </a:solidFill>
                <a:latin typeface="Calibri"/>
              </a:rPr>
              <a:t>Disposition — accuracy, macro-F1, Cohen's kappa vs. a human-labelled gold standard</a:t>
            </a:r>
          </a:p>
          <a:p>
            <a:pPr>
              <a:spcAft>
                <a:spcPts val="900"/>
              </a:spcAft>
            </a:pPr>
            <a:r>
              <a:rPr sz="1200" b="1">
                <a:solidFill>
                  <a:srgbClr val="0B84A5"/>
                </a:solidFill>
              </a:rPr>
              <a:t>●  </a:t>
            </a:r>
            <a:r>
              <a:rPr sz="1800">
                <a:solidFill>
                  <a:srgbClr val="222222"/>
                </a:solidFill>
                <a:latin typeface="Calibri"/>
              </a:rPr>
              <a:t>Root cause — Top-1 / Top-3 accuracy, macro-F1</a:t>
            </a:r>
          </a:p>
          <a:p>
            <a:pPr>
              <a:spcAft>
                <a:spcPts val="900"/>
              </a:spcAft>
            </a:pPr>
            <a:r>
              <a:rPr sz="1200" b="1">
                <a:solidFill>
                  <a:srgbClr val="0B84A5"/>
                </a:solidFill>
              </a:rPr>
              <a:t>●  </a:t>
            </a:r>
            <a:r>
              <a:rPr sz="1800">
                <a:solidFill>
                  <a:srgbClr val="222222"/>
                </a:solidFill>
                <a:latin typeface="Calibri"/>
              </a:rPr>
              <a:t>Optimisation — on-time rate, cost &amp; waste reduction vs. the greedy baseline</a:t>
            </a:r>
          </a:p>
          <a:p>
            <a:pPr>
              <a:spcAft>
                <a:spcPts val="900"/>
              </a:spcAft>
            </a:pPr>
            <a:r>
              <a:rPr sz="1200" b="1">
                <a:solidFill>
                  <a:srgbClr val="0B84A5"/>
                </a:solidFill>
              </a:rPr>
              <a:t>●  </a:t>
            </a:r>
            <a:r>
              <a:rPr sz="1800">
                <a:solidFill>
                  <a:srgbClr val="222222"/>
                </a:solidFill>
                <a:latin typeface="Calibri"/>
              </a:rPr>
              <a:t>System level — explainability, end-to-end response time, audit-report completeness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Scoped MVP &amp; Seven-Week Plan</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11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MVP: single-city (Singapore) network, 1–2 product classes, rule engine first, greedy → OR-Tools / GA</a:t>
            </a:r>
          </a:p>
          <a:p>
            <a:pPr>
              <a:spcAft>
                <a:spcPts val="900"/>
              </a:spcAft>
            </a:pPr>
            <a:r>
              <a:rPr sz="1200" b="1">
                <a:solidFill>
                  <a:srgbClr val="0B84A5"/>
                </a:solidFill>
              </a:rPr>
              <a:t>●  </a:t>
            </a:r>
            <a:r>
              <a:rPr sz="1800">
                <a:solidFill>
                  <a:srgbClr val="222222"/>
                </a:solidFill>
                <a:latin typeface="Calibri"/>
              </a:rPr>
              <a:t>W0 proposal → W1 data/rules → W2 rule-engine MVP → W3 end-to-end v1 → W4 optimise/explain → W5 test/video → W6 deliver (25 Oct)</a:t>
            </a:r>
          </a:p>
          <a:p>
            <a:pPr>
              <a:spcAft>
                <a:spcPts val="900"/>
              </a:spcAft>
            </a:pPr>
            <a:r>
              <a:rPr sz="1200" b="1">
                <a:solidFill>
                  <a:srgbClr val="0B84A5"/>
                </a:solidFill>
              </a:rPr>
              <a:t>●  </a:t>
            </a:r>
            <a:r>
              <a:rPr sz="1800">
                <a:solidFill>
                  <a:srgbClr val="222222"/>
                </a:solidFill>
                <a:latin typeface="Calibri"/>
              </a:rPr>
              <a:t>Excluded: ERP / WMS integration, real IoT hardware, real patient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338560" cy="777240"/>
          </a:xfrm>
          <a:prstGeom prst="rect">
            <a:avLst/>
          </a:prstGeom>
          <a:noFill/>
        </p:spPr>
        <p:txBody>
          <a:bodyPr wrap="square" anchor="t" lIns="0" rIns="0" tIns="0" bIns="0">
            <a:spAutoFit/>
          </a:bodyPr>
          <a:lstStyle/>
          <a:p>
            <a:pPr algn="l"/>
            <a:r>
              <a:rPr sz="2700" b="1">
                <a:solidFill>
                  <a:srgbClr val="1F3A5F"/>
                </a:solidFill>
                <a:latin typeface="Calibri"/>
              </a:rPr>
              <a:t>Risks, Team &amp; Next Steps</a:t>
            </a:r>
          </a:p>
        </p:txBody>
      </p:sp>
      <p:sp>
        <p:nvSpPr>
          <p:cNvPr id="4" name="Rectangle 3"/>
          <p:cNvSpPr/>
          <p:nvPr/>
        </p:nvSpPr>
        <p:spPr>
          <a:xfrm>
            <a:off x="530352" y="1115568"/>
            <a:ext cx="2011680" cy="54864"/>
          </a:xfrm>
          <a:prstGeom prst="rect">
            <a:avLst/>
          </a:prstGeom>
          <a:solidFill>
            <a:srgbClr val="0B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5486400" cy="320040"/>
          </a:xfrm>
          <a:prstGeom prst="rect">
            <a:avLst/>
          </a:prstGeom>
          <a:noFill/>
        </p:spPr>
        <p:txBody>
          <a:bodyPr wrap="square" anchor="t" lIns="0" rIns="0" tIns="0" bIns="0">
            <a:spAutoFit/>
          </a:bodyPr>
          <a:lstStyle/>
          <a:p>
            <a:pPr algn="l"/>
            <a:r>
              <a:rPr sz="1000" b="0">
                <a:solidFill>
                  <a:srgbClr val="7A7A7A"/>
                </a:solidFill>
                <a:latin typeface="Calibri"/>
              </a:rPr>
              <a:t>PharmaColdOps</a:t>
            </a:r>
          </a:p>
        </p:txBody>
      </p:sp>
      <p:sp>
        <p:nvSpPr>
          <p:cNvPr id="6" name="TextBox 5"/>
          <p:cNvSpPr txBox="1"/>
          <p:nvPr/>
        </p:nvSpPr>
        <p:spPr>
          <a:xfrm>
            <a:off x="10515600" y="6473952"/>
            <a:ext cx="1280160" cy="320040"/>
          </a:xfrm>
          <a:prstGeom prst="rect">
            <a:avLst/>
          </a:prstGeom>
          <a:noFill/>
        </p:spPr>
        <p:txBody>
          <a:bodyPr wrap="square" anchor="t" lIns="0" rIns="0" tIns="0" bIns="0">
            <a:spAutoFit/>
          </a:bodyPr>
          <a:lstStyle/>
          <a:p>
            <a:pPr algn="r"/>
            <a:r>
              <a:rPr sz="1000" b="0">
                <a:solidFill>
                  <a:srgbClr val="7A7A7A"/>
                </a:solidFill>
                <a:latin typeface="Calibri"/>
              </a:rPr>
              <a:t>12 / 12</a:t>
            </a:r>
          </a:p>
        </p:txBody>
      </p:sp>
      <p:sp>
        <p:nvSpPr>
          <p:cNvPr id="7" name="TextBox 6"/>
          <p:cNvSpPr txBox="1"/>
          <p:nvPr/>
        </p:nvSpPr>
        <p:spPr>
          <a:xfrm>
            <a:off x="548640" y="1463040"/>
            <a:ext cx="11155680" cy="4754880"/>
          </a:xfrm>
          <a:prstGeom prst="rect">
            <a:avLst/>
          </a:prstGeom>
          <a:noFill/>
        </p:spPr>
        <p:txBody>
          <a:bodyPr wrap="square" lIns="0" rIns="0" tIns="0" bIns="0">
            <a:spAutoFit/>
          </a:bodyPr>
          <a:lstStyle/>
          <a:p>
            <a:pPr>
              <a:spcAft>
                <a:spcPts val="900"/>
              </a:spcAft>
            </a:pPr>
            <a:r>
              <a:rPr sz="1200" b="1">
                <a:solidFill>
                  <a:srgbClr val="0B84A5"/>
                </a:solidFill>
              </a:rPr>
              <a:t>●  </a:t>
            </a:r>
            <a:r>
              <a:rPr sz="1800">
                <a:solidFill>
                  <a:srgbClr val="222222"/>
                </a:solidFill>
                <a:latin typeface="Calibri"/>
              </a:rPr>
              <a:t>Risks — small data → cross-validation &amp; augmentation; rule complexity → 1–2 products; scope creep → MVP boundary</a:t>
            </a:r>
          </a:p>
          <a:p>
            <a:pPr>
              <a:spcAft>
                <a:spcPts val="900"/>
              </a:spcAft>
            </a:pPr>
            <a:r>
              <a:rPr sz="1200" b="1">
                <a:solidFill>
                  <a:srgbClr val="0B84A5"/>
                </a:solidFill>
              </a:rPr>
              <a:t>●  </a:t>
            </a:r>
            <a:r>
              <a:rPr sz="1800">
                <a:solidFill>
                  <a:srgbClr val="222222"/>
                </a:solidFill>
                <a:latin typeface="Calibri"/>
              </a:rPr>
              <a:t>Team — 4 members: project lead / rules · data &amp; ML · optimisation · KG+QA+frontend</a:t>
            </a:r>
          </a:p>
          <a:p>
            <a:pPr>
              <a:spcAft>
                <a:spcPts val="900"/>
              </a:spcAft>
            </a:pPr>
            <a:r>
              <a:rPr sz="1200" b="1">
                <a:solidFill>
                  <a:srgbClr val="0B84A5"/>
                </a:solidFill>
              </a:rPr>
              <a:t>●  </a:t>
            </a:r>
            <a:r>
              <a:rPr sz="1800">
                <a:solidFill>
                  <a:srgbClr val="222222"/>
                </a:solidFill>
                <a:latin typeface="Calibri"/>
              </a:rPr>
              <a:t>Next steps — confirm datasets, build rule-engine v1, submit proposal by 13 Sep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