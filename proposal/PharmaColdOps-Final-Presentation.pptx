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632fb2c0d34ed7" /><Relationship Type="http://schemas.openxmlformats.org/officeDocument/2006/relationships/extended-properties" Target="/docProps/app.xml" Id="R667cd58969904055" /><Relationship Type="http://schemas.openxmlformats.org/officeDocument/2006/relationships/officeDocument" Target="/ppt/presentation.xml" Id="Re40b6006368d43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636cfeda64e8b"/>
  </p:sldMasterIdLst>
  <p:notesMasterIdLst>
    <p:notesMasterId xmlns:r="http://schemas.openxmlformats.org/officeDocument/2006/relationships" r:id="R5e3c09b74c8c44eb"/>
  </p:notesMasterIdLst>
  <p:sldIdLst>
    <p:sldId xmlns:r="http://schemas.openxmlformats.org/officeDocument/2006/relationships" id="256" r:id="R9d0dde41cb7442cc"/>
    <p:sldId xmlns:r="http://schemas.openxmlformats.org/officeDocument/2006/relationships" id="257" r:id="R115a48693598491c"/>
    <p:sldId xmlns:r="http://schemas.openxmlformats.org/officeDocument/2006/relationships" id="258" r:id="R0512a0feed7b41f6"/>
    <p:sldId xmlns:r="http://schemas.openxmlformats.org/officeDocument/2006/relationships" id="259" r:id="R93dc39bd3a99470b"/>
    <p:sldId xmlns:r="http://schemas.openxmlformats.org/officeDocument/2006/relationships" id="260" r:id="R01d91783149749e1"/>
    <p:sldId xmlns:r="http://schemas.openxmlformats.org/officeDocument/2006/relationships" id="261" r:id="R36dbef0a7fb843f0"/>
    <p:sldId xmlns:r="http://schemas.openxmlformats.org/officeDocument/2006/relationships" id="262" r:id="Radffe8f5de764ba7"/>
    <p:sldId xmlns:r="http://schemas.openxmlformats.org/officeDocument/2006/relationships" id="263" r:id="R379602904926448d"/>
    <p:sldId xmlns:r="http://schemas.openxmlformats.org/officeDocument/2006/relationships" id="264" r:id="R1491b9dfcc7a4e82"/>
    <p:sldId xmlns:r="http://schemas.openxmlformats.org/officeDocument/2006/relationships" id="265" r:id="Reb053b34834041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a15321db34603" /><Relationship Type="http://schemas.openxmlformats.org/officeDocument/2006/relationships/slideMaster" Target="/ppt/slideMasters/slideMaster1.xml" Id="Rb3c636cfeda64e8b" /><Relationship Type="http://schemas.openxmlformats.org/officeDocument/2006/relationships/notesMaster" Target="/ppt/notesMasters/notesMaster1.xml" Id="R5e3c09b74c8c44eb" /><Relationship Type="http://schemas.openxmlformats.org/officeDocument/2006/relationships/presProps" Target="/ppt/presProps.xml" Id="R8e29c53032d84890" /><Relationship Type="http://schemas.openxmlformats.org/officeDocument/2006/relationships/tableStyles" Target="/ppt/tableStyles.xml" Id="R17e9e50ce25a4617" /><Relationship Type="http://schemas.openxmlformats.org/officeDocument/2006/relationships/slide" Target="/ppt/slides/slide1.xml" Id="R9d0dde41cb7442cc" /><Relationship Type="http://schemas.openxmlformats.org/officeDocument/2006/relationships/slide" Target="/ppt/slides/slide2.xml" Id="R115a48693598491c" /><Relationship Type="http://schemas.openxmlformats.org/officeDocument/2006/relationships/slide" Target="/ppt/slides/slide3.xml" Id="R0512a0feed7b41f6" /><Relationship Type="http://schemas.openxmlformats.org/officeDocument/2006/relationships/slide" Target="/ppt/slides/slide4.xml" Id="R93dc39bd3a99470b" /><Relationship Type="http://schemas.openxmlformats.org/officeDocument/2006/relationships/slide" Target="/ppt/slides/slide5.xml" Id="R01d91783149749e1" /><Relationship Type="http://schemas.openxmlformats.org/officeDocument/2006/relationships/slide" Target="/ppt/slides/slide6.xml" Id="R36dbef0a7fb843f0" /><Relationship Type="http://schemas.openxmlformats.org/officeDocument/2006/relationships/slide" Target="/ppt/slides/slide7.xml" Id="Radffe8f5de764ba7" /><Relationship Type="http://schemas.openxmlformats.org/officeDocument/2006/relationships/slide" Target="/ppt/slides/slide8.xml" Id="R379602904926448d" /><Relationship Type="http://schemas.openxmlformats.org/officeDocument/2006/relationships/slide" Target="/ppt/slides/slide9.xml" Id="R1491b9dfcc7a4e82" /><Relationship Type="http://schemas.openxmlformats.org/officeDocument/2006/relationships/slide" Target="/ppt/slides/slide10.xml" Id="Reb053b348340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3fb179f28e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4dec5441ab4f04" /><Relationship Type="http://schemas.openxmlformats.org/officeDocument/2006/relationships/notesMaster" Target="/ppt/notesMasters/notesMaster1.xml" Id="R3180cf46a01a45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4d3bcecc94e65" /><Relationship Type="http://schemas.openxmlformats.org/officeDocument/2006/relationships/notesMaster" Target="/ppt/notesMasters/notesMaster1.xml" Id="Re366ff9bd4a64b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8aa98ee6c74559" /><Relationship Type="http://schemas.openxmlformats.org/officeDocument/2006/relationships/notesMaster" Target="/ppt/notesMasters/notesMaster1.xml" Id="R450000fb29bd49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8cc8e7d3b146dc" /><Relationship Type="http://schemas.openxmlformats.org/officeDocument/2006/relationships/notesMaster" Target="/ppt/notesMasters/notesMaster1.xml" Id="Rb99ba3eff1844d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995837cb44652" /><Relationship Type="http://schemas.openxmlformats.org/officeDocument/2006/relationships/notesMaster" Target="/ppt/notesMasters/notesMaster1.xml" Id="Ra310a679fa2e4d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e018a37e194c25" /><Relationship Type="http://schemas.openxmlformats.org/officeDocument/2006/relationships/notesMaster" Target="/ppt/notesMasters/notesMaster1.xml" Id="Rf9ce461832d44d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4ac1a63dca414d" /><Relationship Type="http://schemas.openxmlformats.org/officeDocument/2006/relationships/notesMaster" Target="/ppt/notesMasters/notesMaster1.xml" Id="R570331a97aca4e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6eb0ceb5e44f7" /><Relationship Type="http://schemas.openxmlformats.org/officeDocument/2006/relationships/notesMaster" Target="/ppt/notesMasters/notesMaster1.xml" Id="R0ada0a3d761d4e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c2eace75864d49" /><Relationship Type="http://schemas.openxmlformats.org/officeDocument/2006/relationships/notesMaster" Target="/ppt/notesMasters/notesMaster1.xml" Id="R9a60ed344ce747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6e2e4a9bf54182" /><Relationship Type="http://schemas.openxmlformats.org/officeDocument/2006/relationships/notesMaster" Target="/ppt/notesMasters/notesMaster1.xml" Id="R5ad72b7ff8ff4e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D, 20 seconds. Introduce the business problem and disclose simulated inputs. The team should write and speak its own final wording. Do not claim real hospital deployment or clinical validation. Sources: docs/FINAL_REPORT_EN.md, member-github.txt.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A, 35 seconds. Explain the event, rule, human review, dispatch and case-evidence path. M4 stays advisory. Describe why raw records and human outcomes remain separate.</a:t>
            </a:r>
          </a:p>
          <a:p xmlns:a="http://schemas.openxmlformats.org/drawingml/2006/main">
            <a:r>
              <a:t>Sources: docs/FINAL_REPORT_EN.md, sections 3–4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A, 30 seconds. State 54/57 historical agreement and expose the quarantine failures. Distinguish engine-to-gold kappa 0.9097 from human-human kappa 0.6434. The review workflow protects execution but does not change frozen automatic predictions.</a:t>
            </a:r>
          </a:p>
          <a:p xmlns:a="http://schemas.openxmlformats.org/drawingml/2006/main">
            <a:r>
              <a:t>Sources: docs/M3正式评估.md, historical rubric v1.1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B, 40 seconds. Risk and causes are separate prediction tasks. Explain calibration and why monthly cause classification remains weak. There are no brand-specific potency labels or verified causal diagnoses.</a:t>
            </a:r>
          </a:p>
          <a:p xmlns:a="http://schemas.openxmlformats.org/drawingml/2006/main">
            <a:r>
              <a:t>Sources: docs/M4正式实验.md, formal outer folds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B, 35 seconds. Compare models on the same frozen simulated test cohorts. Explain missing multi-fault mechanisms, uncalibrated scores and screening coverage. Extreme screening supports zero events, and all results require human review.</a:t>
            </a:r>
          </a:p>
          <a:p xmlns:a="http://schemas.openxmlformats.org/drawingml/2006/main">
            <a:r>
              <a:t>Sources: docs/事件时序模型v2评估.md, five held-out roles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C, 35 seconds. Both plans use three vehicles. The distance reduction is 16.59% for one frozen static instance, not a measured operational saving. Explain the fleet-first objective and why different-fleet BKS distances are incomparable.</a:t>
            </a:r>
          </a:p>
          <a:p xmlns:a="http://schemas.openxmlformats.org/drawingml/2006/main">
            <a:r>
              <a:t>Sources: docs/M5正式评估.md, frozen Singapore instance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C, 25 seconds. Distinguish route previews, adopted plans and actual simulated delivery state. Explain the five-warehouse parking restriction and that hospitals cannot be final terminals. Do not invent vehicle-to-vehicle transfer.</a:t>
            </a:r>
          </a:p>
          <a:p xmlns:a="http://schemas.openxmlformats.org/drawingml/2006/main">
            <a:r>
              <a:t>Sources: docs/完整演示与端到端验收.md; docs/独立加急与仓库停车规则.md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D, 35 seconds. Describe exact scope: deterministic routing, five explicit structured queries, labelled concepts, refusal outside scope, reference links and stale-response cancellation. The old frozen review remains unchanged. Regression checks do not establish new independent accuracy.</a:t>
            </a:r>
          </a:p>
          <a:p xmlns:a="http://schemas.openxmlformats.org/drawingml/2006/main">
            <a:r>
              <a:t>Sources: docs/M6问答修复与新版本验收.md; reviewer A observations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D, 25 seconds. State the software verification evidence. If B is missing, say so. Human process declarations are not identity authentication. Do not substitute developer-authored checks for an independent benchmark.</a:t>
            </a:r>
          </a:p>
          <a:p xmlns:a="http://schemas.openxmlformats.org/drawingml/2006/main">
            <a:r>
              <a:t>Sources: PROGRESS.md; process-validated M6 report when supplied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D, 20 seconds. Close with supported capabilities and honest limits. Remaining human items include B review/provenance, recordings, individual reflection and confidential peer evaluation. Original proposal slides are historical, and the current group is 41.</a:t>
            </a:r>
          </a:p>
          <a:p xmlns:a="http://schemas.openxmlformats.org/drawingml/2006/main">
            <a:r>
              <a:t>Sources: docs/最终交付与验收.md</a:t>
            </a:r>
          </a:p>
          <a:p xmlns:a="http://schemas.openxmlformats.org/drawingml/2006/main">
            <a:r>
              <a:t>Data are simulated. Metrics retain their original dataset, split and denominator. Human presentation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60b6d09b343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152b0fec148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b2fe6050147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65b627bf547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b429a6a5443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54086771447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83576E-1F5C-490D-ABCB-AC847359F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9DCEE7-7E2C-4CA2-992B-F34450810A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317417-419A-42F4-8E6A-AF7BF7709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78DB97-DDFF-46DC-B79D-AB47ACAFF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AE547C-FC67-4B2B-9AC7-FF34716589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D10F5E-32A9-4C53-A638-413DF5E6C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7C9C9C-AE83-4B57-B27F-128F88624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424E82-7400-451F-806D-9282FB892A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9831FD-21A6-4C25-AB7A-A8657E811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159180-EF0F-463E-8869-DA2231930F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525cb628304ae3" /><Relationship Type="http://schemas.openxmlformats.org/officeDocument/2006/relationships/slideLayout" Target="/ppt/slideLayouts/slideLayout1.xml" Id="Ref7bf9a913a14bdd" /><Relationship Type="http://schemas.openxmlformats.org/officeDocument/2006/relationships/slideLayout" Target="/ppt/slideLayouts/slideLayout2.xml" Id="R1112158a1d4b438f" /><Relationship Type="http://schemas.openxmlformats.org/officeDocument/2006/relationships/slideLayout" Target="/ppt/slideLayouts/slideLayout3.xml" Id="R97dcf71d90634408" /><Relationship Type="http://schemas.openxmlformats.org/officeDocument/2006/relationships/slideLayout" Target="/ppt/slideLayouts/slideLayout4.xml" Id="R2023fdbe524a4937" /><Relationship Type="http://schemas.openxmlformats.org/officeDocument/2006/relationships/slideLayout" Target="/ppt/slideLayouts/slideLayout5.xml" Id="R2564c1cdba0a4049" /><Relationship Type="http://schemas.openxmlformats.org/officeDocument/2006/relationships/slideLayout" Target="/ppt/slideLayouts/slideLayout6.xml" Id="R36318f716ecc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7bf9a913a14bdd"/>
    <p:sldLayoutId xmlns:r="http://schemas.openxmlformats.org/officeDocument/2006/relationships" id="2147483650" r:id="R1112158a1d4b438f"/>
    <p:sldLayoutId xmlns:r="http://schemas.openxmlformats.org/officeDocument/2006/relationships" id="2147483651" r:id="R97dcf71d90634408"/>
    <p:sldLayoutId xmlns:r="http://schemas.openxmlformats.org/officeDocument/2006/relationships" id="2147483652" r:id="R2023fdbe524a4937"/>
    <p:sldLayoutId xmlns:r="http://schemas.openxmlformats.org/officeDocument/2006/relationships" id="2147483653" r:id="R2564c1cdba0a4049"/>
    <p:sldLayoutId xmlns:r="http://schemas.openxmlformats.org/officeDocument/2006/relationships" id="2147483654" r:id="R36318f716ecc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b2e2a25924528" /><Relationship Type="http://schemas.openxmlformats.org/officeDocument/2006/relationships/notesSlide" Target="/ppt/notesSlides/notesSlide1.xml" Id="Ra7eefa89c7484e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8238966384b68" /><Relationship Type="http://schemas.openxmlformats.org/officeDocument/2006/relationships/image" Target="/ppt/media/image.png" Id="Rd03ec4d4d1864a45" /><Relationship Type="http://schemas.openxmlformats.org/officeDocument/2006/relationships/notesSlide" Target="/ppt/notesSlides/notesSlide2.xml" Id="Rdd077a8a331a43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aed52f0684371" /><Relationship Type="http://schemas.openxmlformats.org/officeDocument/2006/relationships/notesSlide" Target="/ppt/notesSlides/notesSlide3.xml" Id="R7de6188f65eb4c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87469c5ee44e7" /><Relationship Type="http://schemas.openxmlformats.org/officeDocument/2006/relationships/notesSlide" Target="/ppt/notesSlides/notesSlide4.xml" Id="R06927693441b48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96c6e4b7a4e6e" /><Relationship Type="http://schemas.openxmlformats.org/officeDocument/2006/relationships/chart" Target="/ppt/slides/charts/chart1.xml" Id="R71059fd54a5c46cb" /><Relationship Type="http://schemas.openxmlformats.org/officeDocument/2006/relationships/notesSlide" Target="/ppt/notesSlides/notesSlide5.xml" Id="R962208c5fbc946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57383f6894d8a" /><Relationship Type="http://schemas.openxmlformats.org/officeDocument/2006/relationships/chart" Target="/ppt/slides/charts/chart2.xml" Id="Rd3e286f147904e77" /><Relationship Type="http://schemas.openxmlformats.org/officeDocument/2006/relationships/notesSlide" Target="/ppt/notesSlides/notesSlide6.xml" Id="R97f46e33310444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24c4330394255" /><Relationship Type="http://schemas.openxmlformats.org/officeDocument/2006/relationships/notesSlide" Target="/ppt/notesSlides/notesSlide7.xml" Id="Rb0e255fad8e64a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e5b4baa9445b9" /><Relationship Type="http://schemas.openxmlformats.org/officeDocument/2006/relationships/image" Target="/ppt/media/image2.png" Id="Rb95b43fff62c46c1" /><Relationship Type="http://schemas.openxmlformats.org/officeDocument/2006/relationships/notesSlide" Target="/ppt/notesSlides/notesSlide8.xml" Id="Re70a7be4b1db41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36dbc9a7614311" /><Relationship Type="http://schemas.openxmlformats.org/officeDocument/2006/relationships/notesSlide" Target="/ppt/notesSlides/notesSlide9.xml" Id="R7936e26b2e6e44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63603211641cb" /><Relationship Type="http://schemas.openxmlformats.org/officeDocument/2006/relationships/notesSlide" Target="/ppt/notesSlides/notesSlide10.xml" Id="R6dc6144dbd034b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Earlier event model</c:v>
          </c:tx>
          <c:spPr>
            <a:solidFill xmlns:a="http://schemas.openxmlformats.org/drawingml/2006/main">
              <a:srgbClr val="B9C2C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Nominal assets</c:v>
                </c:pt>
                <c:pt idx="1">
                  <c:v>Other assets</c:v>
                </c:pt>
                <c:pt idx="2">
                  <c:v>New excitation</c:v>
                </c:pt>
                <c:pt idx="3">
                  <c:v>Covered stress</c:v>
                </c:pt>
                <c:pt idx="4">
                  <c:v>Extreme stress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0.6125</c:v>
                </c:pt>
                <c:pt idx="1">
                  <c:v>0.6111</c:v>
                </c:pt>
                <c:pt idx="2">
                  <c:v>0.588</c:v>
                </c:pt>
                <c:pt idx="3">
                  <c:v>0.5126</c:v>
                </c:pt>
                <c:pt idx="4">
                  <c:v>0.5068</c:v>
                </c:pt>
              </c:numCache>
            </c:numRef>
          </c:val>
        </c:ser>
        <c:ser>
          <c:idx val="1"/>
          <c:order val="1"/>
          <c:tx>
            <c:v>Temporal v2</c:v>
          </c:tx>
          <c:spPr>
            <a:solidFill xmlns:a="http://schemas.openxmlformats.org/drawingml/2006/main">
              <a:srgbClr val="B88E23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Nominal assets</c:v>
                </c:pt>
                <c:pt idx="1">
                  <c:v>Other assets</c:v>
                </c:pt>
                <c:pt idx="2">
                  <c:v>New excitation</c:v>
                </c:pt>
                <c:pt idx="3">
                  <c:v>Covered stress</c:v>
                </c:pt>
                <c:pt idx="4">
                  <c:v>Extreme stress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0.7668</c:v>
                </c:pt>
                <c:pt idx="1">
                  <c:v>0.7619</c:v>
                </c:pt>
                <c:pt idx="2">
                  <c:v>0.7228</c:v>
                </c:pt>
                <c:pt idx="3">
                  <c:v>0.7528</c:v>
                </c:pt>
                <c:pt idx="4">
                  <c:v>0.6505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Distance (km)</c:v>
          </c:tx>
          <c:spPr>
            <a:solidFill xmlns:a="http://schemas.openxmlformats.org/drawingml/2006/main">
              <a:srgbClr val="063E5F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Greedy</c:v>
                </c:pt>
                <c:pt idx="1">
                  <c:v>OR-Tools GLS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165.26</c:v>
                </c:pt>
                <c:pt idx="1">
                  <c:v>137.85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E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D64E0-AA04-4A62-B455-EBAE49DA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PharmaColdOps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23427-294D-4A3B-85E1-2A8DCBB3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Cold-chain decisions and delivery replanning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1F61F-CD60-42BE-9862-8EC1A961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Group 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8C705-D6DE-4B72-8399-005A68F7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briefing  17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E3EAD-5CAE-4054-903E-30B09832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Simulated data. Human review governs consequential actions.</a:t>
            </a:r>
          </a:p>
        </p:txBody>
      </p:sp>
    </p:spTree>
    <p:extLst>
      <p:ext uri="{BB962C8B-B14F-4D97-AF65-F5344CB8AC3E}">
        <p14:creationId xmlns:p14="http://schemas.microsoft.com/office/powerpoint/2010/main" val="1374129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C54C5-1C65-4837-AA00-704D957D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System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CB3D4-C0B0-4DF3-9605-7C508670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Group report, implemented architecture and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018A6-AF3E-491D-BEFF-B14AEE2A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9FC1F-1DF5-46CF-A044-55C203B991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ec4d4d1864a45"/>
          <a:stretch xmlns:a="http://schemas.openxmlformats.org/drawingml/2006/main"/>
        </p:blipFill>
        <p:spPr>
          <a:xfrm xmlns:a="http://schemas.openxmlformats.org/drawingml/2006/main">
            <a:off x="1524000" y="1285875"/>
            <a:ext cx="9144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A2D18-EA90-4E4B-9EC5-EF5E820B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Recorded evidence and effective human decisions remain separate</a:t>
            </a:r>
          </a:p>
        </p:txBody>
      </p:sp>
    </p:spTree>
    <p:extLst>
      <p:ext uri="{BB962C8B-B14F-4D97-AF65-F5344CB8AC3E}">
        <p14:creationId xmlns:p14="http://schemas.microsoft.com/office/powerpoint/2010/main" val="293886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B426F-8907-4FB0-8118-1B5896D8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Rule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8901F-634A-4064-96BE-D247A0A3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M3 formal report, frozen synthetic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91133-5583-4590-8261-0C8556D4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B9392-712A-477E-9702-E00FCBD397BA}"/>
              </a:ext>
            </a:extLst>
          </p:cNvPr>
          <p:cNvGraphicFramePr/>
          <p:nvPr/>
        </p:nvGraphicFramePr>
        <p:xfrm>
          <a:off xmlns:a="http://schemas.openxmlformats.org/drawingml/2006/main" x="571500" y="15811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905000"/>
                <a:gridCol w="2714625"/>
                <a:gridCol w="2952750"/>
              </a:tblGrid>
              <a:tr h="6762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Historical label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63E5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63E5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63E5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63E5F"/>
                    </a:solidFill>
                  </a:tcPr>
                </a:tc>
              </a:tr>
              <a:tr h="6762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release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0.9286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6762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retest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0.9412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</a:tr>
              <a:tr h="6762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quarantine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6762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scrap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8BA6A-1038-4B2D-8AFE-981BBACD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54/57 agreement. Macro-F1 0.7174. Quarantine recall 0/3.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4C934-F29D-44CE-915D-BA951EEE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Synthetic historical scenarios, with known policy disagreements</a:t>
            </a:r>
          </a:p>
        </p:txBody>
      </p:sp>
    </p:spTree>
    <p:extLst>
      <p:ext uri="{BB962C8B-B14F-4D97-AF65-F5344CB8AC3E}">
        <p14:creationId xmlns:p14="http://schemas.microsoft.com/office/powerpoint/2010/main" val="1869039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4129C-F13B-446F-9A09-89B76AEA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Risk and candidate-cause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18BA4-0FE8-4C1A-8181-31DA2A7C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M4 formal report, outer five-fold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ABDFD-70DE-4F84-899D-CC83A341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A8C9C-531B-46C6-9479-F76DDA2A6EE4}"/>
              </a:ext>
            </a:extLst>
          </p:cNvPr>
          <p:cNvGraphicFramePr/>
          <p:nvPr/>
        </p:nvGraphicFramePr>
        <p:xfrm>
          <a:off xmlns:a="http://schemas.openxmlformats.org/drawingml/2006/main" x="571500" y="15811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619750"/>
              </a:tblGrid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Shipment-risk measure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63E5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Five-fold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63E5F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0.6635 +/- 0.0179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0.9045 +/- 0.0092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PR-AUC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0.7087 +/- 0.0296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1F4F6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Brier, raw to calibrated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063E5F"/>
                          </a:solidFill>
                          <a:latin typeface="Arial"/>
                          <a:ea typeface="Arial"/>
                          <a:cs typeface="Arial"/>
                        </a:rPr>
                        <a:t>0.1091 to 0.0933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F353-18C7-44C8-99DA-EE450656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Monthly causes: macro-F1 0.1322, Top-1 0.1713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9F4FB-AB60-4463-8E9A-A9555156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Random-fold full15 results. Candidate associations require review.</a:t>
            </a:r>
          </a:p>
        </p:txBody>
      </p:sp>
    </p:spTree>
    <p:extLst>
      <p:ext uri="{BB962C8B-B14F-4D97-AF65-F5344CB8AC3E}">
        <p14:creationId xmlns:p14="http://schemas.microsoft.com/office/powerpoint/2010/main" val="555503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39659-1ABE-4723-9CF5-F9172DD9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Temporal event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DA7E8-6E88-4750-98EA-A746D6D0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Event-v2 report, same five held-out simulated cohorts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05905-FA2D-43A3-87F2-8FD0648D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D2993-E8B3-430A-B625-73ECE50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Macro-F1 (0–1)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3B9BC61-907C-4650-B2E2-1CBE0D89B669}"/>
              </a:ext>
            </a:extLst>
          </p:cNvPr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57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059fd54a5c46c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1E3C0-C2CC-4824-911F-425D1659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Supported coverage: 17.33%, 20.67%, 13.83%, 2.50%, 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3604B-74E7-4530-8892-1B78989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Same simulator. All 3,000 test events still require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815162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88CA5-177E-404C-94A4-7E95DE6B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Static route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BE337-5A8F-4F4A-A0FB-6BAF2E13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M5 formal report, frozen Singapore static instance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6F5DF-AF19-4638-9891-4BD6FE3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4EC9F-2E71-4D0B-AC0C-9E0822FF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906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Total distance (km)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C00E6E0-C960-4C81-A70A-13A7412387AD}"/>
              </a:ext>
            </a:extLst>
          </p:cNvPr>
          <p:cNvGraphicFramePr/>
          <p:nvPr/>
        </p:nvGraphicFramePr>
        <p:xfrm>
          <a:off xmlns:a="http://schemas.openxmlformats.org/drawingml/2006/main" x="1238250" y="1524000"/>
          <a:ext xmlns:a="http://schemas.openxmlformats.org/drawingml/2006/main" cx="9620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e286f147904e7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BDE54-7337-4623-99C1-28AD5D14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3 vehicles in each plan. 49 static comparisons overall.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B54BB-8BBD-4B14-9425-41EA2407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Complete feasibility comes before fleet size and distance.</a:t>
            </a:r>
          </a:p>
        </p:txBody>
      </p:sp>
    </p:spTree>
    <p:extLst>
      <p:ext uri="{BB962C8B-B14F-4D97-AF65-F5344CB8AC3E}">
        <p14:creationId xmlns:p14="http://schemas.microsoft.com/office/powerpoint/2010/main" val="1271911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96B93-594E-4C02-8610-AF37CFC6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Delivery execution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BFF9C-E791-490A-89E0-A8BF6336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Execution acceptance and warehouse parking contracts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472DD-3F91-46C0-9FAD-B0209AE7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8856C-6EFC-45F3-BB38-04AAE8E7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Explicit adoption changes the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03A75-A8CA-4444-983A-A509EDFB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Urgent orders share the current delivery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1D22E-899B-41F1-8D08-86D2BC6B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Delay and failure handling retain completed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1258E-FA80-4F08-AD4D-BAC9D58B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Day-end terminals are selected warehouses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4C570-9B97-45C9-9AAD-0A34403B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Orders, progress and available resources are simulated</a:t>
            </a:r>
          </a:p>
        </p:txBody>
      </p:sp>
    </p:spTree>
    <p:extLst>
      <p:ext uri="{BB962C8B-B14F-4D97-AF65-F5344CB8AC3E}">
        <p14:creationId xmlns:p14="http://schemas.microsoft.com/office/powerpoint/2010/main" val="706766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AF3E9-4CAB-4DD1-B1AE-95F9EB21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M6 question-answering repairs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274C5-1E5B-4B23-BE2B-4B7DE39A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Observed review failures and developer software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108E2-354C-4C6D-81C7-CF891C0A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07B40-4B88-4E9B-9AC2-9A666FF3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Explicit query types and visible case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CF078-72D5-487E-8118-406D3DCD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Unsupported questions receive a refusal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36613-FAF0-4E6C-9770-C2960E4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Concepts do not become case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084C4-D1D1-4219-BCB4-FEEBFF2B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Reference links preserve recorded provenance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8F365-5926-4065-A414-D7D111D191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b43fff62c46c1"/>
          <a:stretch xmlns:a="http://schemas.openxmlformats.org/drawingml/2006/main"/>
        </p:blipFill>
        <p:spPr>
          <a:xfrm xmlns:a="http://schemas.openxmlformats.org/drawingml/2006/main">
            <a:off x="6783566" y="1428750"/>
            <a:ext cx="4101743" cy="4048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EAEE1-EAD6-47D2-950E-5463C333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Frozen review results remain distinct from repaired-system quality</a:t>
            </a:r>
          </a:p>
        </p:txBody>
      </p:sp>
    </p:spTree>
    <p:extLst>
      <p:ext uri="{BB962C8B-B14F-4D97-AF65-F5344CB8AC3E}">
        <p14:creationId xmlns:p14="http://schemas.microsoft.com/office/powerpoint/2010/main" val="289648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DF5DF-A302-471B-8D59-290F6D4B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Verification and human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AA671-74C1-4707-9034-2D4B6152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Release verification and frozen human-review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3CAB9-190D-407C-846E-5E92DF56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19B1A-BB4E-435F-B1B7-4F96A67A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Full regression: 926 passed, no skips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84A7D-91D0-467A-B609-9186C9FC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104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36 API workflow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9DB4C-9EE1-4FA1-AFC1-5EA62DBC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104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Persistence, graph recovery and read-only advisory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1F073-9478-498E-91C5-6CE14912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M6: reviewer B and process evidence remain 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A10BC-9CF7-4FE8-975B-18CC9564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Current-router independent accuracy is not established</a:t>
            </a:r>
          </a:p>
        </p:txBody>
      </p:sp>
    </p:spTree>
    <p:extLst>
      <p:ext uri="{BB962C8B-B14F-4D97-AF65-F5344CB8AC3E}">
        <p14:creationId xmlns:p14="http://schemas.microsoft.com/office/powerpoint/2010/main" val="13973419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2CD22-2691-4210-AB06-40136733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63E5F"/>
                </a:solidFill>
                <a:latin typeface="Arial"/>
                <a:ea typeface="Arial"/>
                <a:cs typeface="Arial"/>
              </a:rPr>
              <a:t>Limitations and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6D28D-8C44-425D-AD89-C4E14F0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2"/>
                </a:solidFill>
                <a:latin typeface="Arial"/>
                <a:ea typeface="Arial"/>
                <a:cs typeface="Arial"/>
              </a:rPr>
              <a:t>Course requirements and final delivery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BF2E5-B714-4F7F-9E91-976F42EA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4FA86-C58A-4CCE-9489-5A170445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Engineering thresholds require product-level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253BF-B6EA-43E6-9EC3-516E922C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Model candidates cannot authorise medicine disposition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A1DA5-51D6-419B-8EF8-3A47F99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The local prototype has no public-user 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9E0D7-94CD-4F72-A2ED-D0B0BD8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62475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63E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63E5F"/>
                </a:solidFill>
                <a:latin typeface="Arial"/>
                <a:ea typeface="Arial"/>
                <a:cs typeface="Arial"/>
              </a:rPr>
              <a:t>Human recordings, review and individual reports remain team tasks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553FE-D4B2-429E-910B-A98B6F55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88E2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8E23"/>
                </a:solidFill>
                <a:latin typeface="Arial"/>
                <a:ea typeface="Arial"/>
                <a:cs typeface="Arial"/>
              </a:rPr>
              <a:t>Runnable prototype, inspectable evidence and reproducible experiments</a:t>
            </a:r>
          </a:p>
        </p:txBody>
      </p:sp>
    </p:spTree>
    <p:extLst>
      <p:ext uri="{BB962C8B-B14F-4D97-AF65-F5344CB8AC3E}">
        <p14:creationId xmlns:p14="http://schemas.microsoft.com/office/powerpoint/2010/main" val="1828925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2026-10-16T19:08:41.3050000Z</dcterms:created>
  <dcterms:modified xsi:type="dcterms:W3CDTF">2026-10-16T19:08:41.3050000Z</dcterms:modified>
</coreProperties>
</file>