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10f81fff7142ce" /><Relationship Type="http://schemas.openxmlformats.org/officeDocument/2006/relationships/extended-properties" Target="/docProps/app.xml" Id="Rc050502734e7412c" /><Relationship Type="http://schemas.openxmlformats.org/officeDocument/2006/relationships/officeDocument" Target="/ppt/presentation.xml" Id="Rae404c2baf834c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0838d5a54b43cc"/>
  </p:sldMasterIdLst>
  <p:notesMasterIdLst>
    <p:notesMasterId xmlns:r="http://schemas.openxmlformats.org/officeDocument/2006/relationships" r:id="Rde3ebcb0ec474b08"/>
  </p:notesMasterIdLst>
  <p:sldIdLst>
    <p:sldId xmlns:r="http://schemas.openxmlformats.org/officeDocument/2006/relationships" id="256" r:id="R9eff58f2ed804454"/>
    <p:sldId xmlns:r="http://schemas.openxmlformats.org/officeDocument/2006/relationships" id="257" r:id="R47bf2247acd34284"/>
    <p:sldId xmlns:r="http://schemas.openxmlformats.org/officeDocument/2006/relationships" id="258" r:id="R53a35562347c4d86"/>
    <p:sldId xmlns:r="http://schemas.openxmlformats.org/officeDocument/2006/relationships" id="259" r:id="Rbd69510d55324af2"/>
    <p:sldId xmlns:r="http://schemas.openxmlformats.org/officeDocument/2006/relationships" id="260" r:id="R82d6003ef60a4065"/>
    <p:sldId xmlns:r="http://schemas.openxmlformats.org/officeDocument/2006/relationships" id="261" r:id="R5118b34e419e4f30"/>
    <p:sldId xmlns:r="http://schemas.openxmlformats.org/officeDocument/2006/relationships" id="262" r:id="R6b36444d3ab4426c"/>
    <p:sldId xmlns:r="http://schemas.openxmlformats.org/officeDocument/2006/relationships" id="263" r:id="Rc2e26f5d33394ce6"/>
    <p:sldId xmlns:r="http://schemas.openxmlformats.org/officeDocument/2006/relationships" id="264" r:id="R8947df98f9564080"/>
    <p:sldId xmlns:r="http://schemas.openxmlformats.org/officeDocument/2006/relationships" id="265" r:id="Rf2516a548d0f46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27144143c648b2" /><Relationship Type="http://schemas.openxmlformats.org/officeDocument/2006/relationships/slideMaster" Target="/ppt/slideMasters/slideMaster1.xml" Id="Rf70838d5a54b43cc" /><Relationship Type="http://schemas.openxmlformats.org/officeDocument/2006/relationships/notesMaster" Target="/ppt/notesMasters/notesMaster1.xml" Id="Rde3ebcb0ec474b08" /><Relationship Type="http://schemas.openxmlformats.org/officeDocument/2006/relationships/presProps" Target="/ppt/presProps.xml" Id="R4868ec8d093e43fb" /><Relationship Type="http://schemas.openxmlformats.org/officeDocument/2006/relationships/tableStyles" Target="/ppt/tableStyles.xml" Id="R8f9c5f259ba84c21" /><Relationship Type="http://schemas.openxmlformats.org/officeDocument/2006/relationships/slide" Target="/ppt/slides/slide1.xml" Id="R9eff58f2ed804454" /><Relationship Type="http://schemas.openxmlformats.org/officeDocument/2006/relationships/slide" Target="/ppt/slides/slide2.xml" Id="R47bf2247acd34284" /><Relationship Type="http://schemas.openxmlformats.org/officeDocument/2006/relationships/slide" Target="/ppt/slides/slide3.xml" Id="R53a35562347c4d86" /><Relationship Type="http://schemas.openxmlformats.org/officeDocument/2006/relationships/slide" Target="/ppt/slides/slide4.xml" Id="Rbd69510d55324af2" /><Relationship Type="http://schemas.openxmlformats.org/officeDocument/2006/relationships/slide" Target="/ppt/slides/slide5.xml" Id="R82d6003ef60a4065" /><Relationship Type="http://schemas.openxmlformats.org/officeDocument/2006/relationships/slide" Target="/ppt/slides/slide6.xml" Id="R5118b34e419e4f30" /><Relationship Type="http://schemas.openxmlformats.org/officeDocument/2006/relationships/slide" Target="/ppt/slides/slide7.xml" Id="R6b36444d3ab4426c" /><Relationship Type="http://schemas.openxmlformats.org/officeDocument/2006/relationships/slide" Target="/ppt/slides/slide8.xml" Id="Rc2e26f5d33394ce6" /><Relationship Type="http://schemas.openxmlformats.org/officeDocument/2006/relationships/slide" Target="/ppt/slides/slide9.xml" Id="R8947df98f9564080" /><Relationship Type="http://schemas.openxmlformats.org/officeDocument/2006/relationships/slide" Target="/ppt/slides/slide10.xml" Id="Rf2516a548d0f46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a684cf9fb442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6c5498c1e0444f" /><Relationship Type="http://schemas.openxmlformats.org/officeDocument/2006/relationships/notesMaster" Target="/ppt/notesMasters/notesMaster1.xml" Id="Rb2fc81c3f4f34a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2674b0d7d44ac2" /><Relationship Type="http://schemas.openxmlformats.org/officeDocument/2006/relationships/notesMaster" Target="/ppt/notesMasters/notesMaster1.xml" Id="R5e896976a56444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7284bce08048fa" /><Relationship Type="http://schemas.openxmlformats.org/officeDocument/2006/relationships/notesMaster" Target="/ppt/notesMasters/notesMaster1.xml" Id="R0ce4c9110a9e4e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d05dbfe03e4ecc" /><Relationship Type="http://schemas.openxmlformats.org/officeDocument/2006/relationships/notesMaster" Target="/ppt/notesMasters/notesMaster1.xml" Id="Rbb26f9c863f44d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21e5829b5541ee" /><Relationship Type="http://schemas.openxmlformats.org/officeDocument/2006/relationships/notesMaster" Target="/ppt/notesMasters/notesMaster1.xml" Id="R3bc2a5f5653741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d0601b9b154ba7" /><Relationship Type="http://schemas.openxmlformats.org/officeDocument/2006/relationships/notesMaster" Target="/ppt/notesMasters/notesMaster1.xml" Id="R809e6283322742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55ab3af04e41f6" /><Relationship Type="http://schemas.openxmlformats.org/officeDocument/2006/relationships/notesMaster" Target="/ppt/notesMasters/notesMaster1.xml" Id="Rdbadf2e6525544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bf122653154b76" /><Relationship Type="http://schemas.openxmlformats.org/officeDocument/2006/relationships/notesMaster" Target="/ppt/notesMasters/notesMaster1.xml" Id="R17249e2c7aae4e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a4278d304646e3" /><Relationship Type="http://schemas.openxmlformats.org/officeDocument/2006/relationships/notesMaster" Target="/ppt/notesMasters/notesMaster1.xml" Id="R94ddbdf9b8e945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49d3227a4e94c3b" /><Relationship Type="http://schemas.openxmlformats.org/officeDocument/2006/relationships/notesMaster" Target="/ppt/notesMasters/notesMaster1.xml" Id="Re44bd8f9f95c4a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D, 20 seconds. Introduce the business problem and disclose simulated inputs. The team should write and speak its own final wording. Do not claim real hospital deployment or clinical validation. Sources: docs/FINAL_REPORT_EN.md, member-github.txt.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35 seconds. Explain the event, rule, human review, dispatch and case-evidence path. M4 stays advisory. Describe why raw records and human outcomes remain separate.</a:t>
            </a:r>
          </a:p>
          <a:p xmlns:a="http://schemas.openxmlformats.org/drawingml/2006/main">
            <a:r>
              <a:t>Sources: docs/FINAL_REPORT_EN.md, sections 3–4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30 seconds. State 54/57 historical agreement and expose the quarantine failures. Distinguish engine-to-gold kappa 0.9097 from human-human kappa 0.6434. The review workflow protects execution but does not change frozen automatic predictions.</a:t>
            </a:r>
          </a:p>
          <a:p xmlns:a="http://schemas.openxmlformats.org/drawingml/2006/main">
            <a:r>
              <a:t>Sources: docs/M3正式评估.md, historical rubric v1.1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B, 40 seconds. Risk and causes are separate prediction tasks. Explain calibration and why monthly cause classification remains weak. There are no brand-specific potency labels or verified causal diagnoses.</a:t>
            </a:r>
          </a:p>
          <a:p xmlns:a="http://schemas.openxmlformats.org/drawingml/2006/main">
            <a:r>
              <a:t>Sources: docs/M4正式实验.md, formal outer folds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B, 35 seconds. Compare models on the same frozen simulated test cohorts. Explain missing multi-fault mechanisms, uncalibrated scores and screening coverage. Extreme screening supports zero events, and all results require human review.</a:t>
            </a:r>
          </a:p>
          <a:p xmlns:a="http://schemas.openxmlformats.org/drawingml/2006/main">
            <a:r>
              <a:t>Sources: docs/事件时序模型v2评估.md, five held-out roles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C, 35 seconds. Both plans use three vehicles. The distance reduction is 16.59% for one frozen static instance, not a measured operational saving. Explain the fleet-first objective and why different-fleet BKS distances are incomparable.</a:t>
            </a:r>
          </a:p>
          <a:p xmlns:a="http://schemas.openxmlformats.org/drawingml/2006/main">
            <a:r>
              <a:t>Sources: docs/M5正式评估.md, frozen Singapore instance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C, 25 seconds. Distinguish route previews, adopted plans and actual simulated delivery state. Explain the five-warehouse parking restriction and that hospitals cannot be final terminals. Do not invent vehicle-to-vehicle transfer.</a:t>
            </a:r>
          </a:p>
          <a:p xmlns:a="http://schemas.openxmlformats.org/drawingml/2006/main">
            <a:r>
              <a:t>Sources: docs/完整演示与端到端验收.md; docs/独立加急与仓库停车规则.md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D, 35 seconds. Describe exact scope: deterministic routing, five explicit structured queries, labelled concepts, refusal outside scope, reference links and stale-response cancellation. The old frozen review remains unchanged. Regression checks do not establish new independent accuracy.</a:t>
            </a:r>
          </a:p>
          <a:p xmlns:a="http://schemas.openxmlformats.org/drawingml/2006/main">
            <a:r>
              <a:t>Sources: docs/M6问答修复与新版本验收.md; reviewer A observations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D, 25 seconds. State the software verification evidence with its historical date. Current A/B descriptive review covers 53 questions each, with 15 matching intent judgements and 38 unresolved disagreements. B confirmed personal judgement and source consultation; A historical process remains unverified. No independent metric or adjudicated gold is available from this closeout. Process declarations do not authenticate identity.</a:t>
            </a:r>
          </a:p>
          <a:p xmlns:a="http://schemas.openxmlformats.org/drawingml/2006/main">
            <a:r>
              <a:t>Sources: PROGRESS.md; docs/M6评审收尾.md; supplied M6 report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D, 20 seconds. Close with supported capabilities and honest limits. The current descriptive M6 review is archived. Independent evaluation requires historical process verification and third-person adjudication or a new question set. Remaining delivery tasks include human recordings, individual reflection and confidential peer evaluation. Original proposal slides are historical, and the current group is 41.</a:t>
            </a:r>
          </a:p>
          <a:p xmlns:a="http://schemas.openxmlformats.org/drawingml/2006/main">
            <a:r>
              <a:t>Sources: docs/最终交付与验收.md</a:t>
            </a:r>
          </a:p>
          <a:p xmlns:a="http://schemas.openxmlformats.org/drawingml/2006/main">
            <a:r>
              <a:t>Data are simulated. Metrics retain their original dataset, split and denominator. Human presentation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bc75dc22049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cfb47698846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53c144630742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d784f6e5f4f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fc39e8a24b4d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114954abc4d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2D4E7B-1CF6-4A1B-A947-19AF9CA302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EE145A-F7CC-4C1B-AB56-AB753BE3C8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0296A5E-CD86-41BE-A4A6-AAB69C66CC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719D2A-3695-4E78-BED2-0739802E8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D29A08C-2F83-4413-88D6-96899F0C97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17F0052-FF56-4EFD-B9F5-24584A063F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DC8B87B-C262-4F1C-99E9-BAB7B20509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15F0896-ADEC-46A5-8940-E19DC8E310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21BB8D-24EA-440A-8BB6-F1109C99D3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8DAF9D-C4E7-413C-9AFE-7BE8E0136E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263ac5a5f44cf0" /><Relationship Type="http://schemas.openxmlformats.org/officeDocument/2006/relationships/slideLayout" Target="/ppt/slideLayouts/slideLayout1.xml" Id="R736badca87974446" /><Relationship Type="http://schemas.openxmlformats.org/officeDocument/2006/relationships/slideLayout" Target="/ppt/slideLayouts/slideLayout2.xml" Id="R6570311bef44408c" /><Relationship Type="http://schemas.openxmlformats.org/officeDocument/2006/relationships/slideLayout" Target="/ppt/slideLayouts/slideLayout3.xml" Id="R43b8dc1bbaa6419d" /><Relationship Type="http://schemas.openxmlformats.org/officeDocument/2006/relationships/slideLayout" Target="/ppt/slideLayouts/slideLayout4.xml" Id="R9d1fa4e23c6c48aa" /><Relationship Type="http://schemas.openxmlformats.org/officeDocument/2006/relationships/slideLayout" Target="/ppt/slideLayouts/slideLayout5.xml" Id="R0eaf391cb5d54801" /><Relationship Type="http://schemas.openxmlformats.org/officeDocument/2006/relationships/slideLayout" Target="/ppt/slideLayouts/slideLayout6.xml" Id="Rc13699dd3c5e45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6badca87974446"/>
    <p:sldLayoutId xmlns:r="http://schemas.openxmlformats.org/officeDocument/2006/relationships" id="2147483650" r:id="R6570311bef44408c"/>
    <p:sldLayoutId xmlns:r="http://schemas.openxmlformats.org/officeDocument/2006/relationships" id="2147483651" r:id="R43b8dc1bbaa6419d"/>
    <p:sldLayoutId xmlns:r="http://schemas.openxmlformats.org/officeDocument/2006/relationships" id="2147483652" r:id="R9d1fa4e23c6c48aa"/>
    <p:sldLayoutId xmlns:r="http://schemas.openxmlformats.org/officeDocument/2006/relationships" id="2147483653" r:id="R0eaf391cb5d54801"/>
    <p:sldLayoutId xmlns:r="http://schemas.openxmlformats.org/officeDocument/2006/relationships" id="2147483654" r:id="Rc13699dd3c5e45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d7437c1d804fea" /><Relationship Type="http://schemas.openxmlformats.org/officeDocument/2006/relationships/notesSlide" Target="/ppt/notesSlides/notesSlide1.xml" Id="Rdd5f251a201948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1af775450343f0" /><Relationship Type="http://schemas.openxmlformats.org/officeDocument/2006/relationships/image" Target="/ppt/media/image.png" Id="Radfa2d913f86439b" /><Relationship Type="http://schemas.openxmlformats.org/officeDocument/2006/relationships/notesSlide" Target="/ppt/notesSlides/notesSlide2.xml" Id="R98218ed72d0b42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4cd31bee364c9a" /><Relationship Type="http://schemas.openxmlformats.org/officeDocument/2006/relationships/notesSlide" Target="/ppt/notesSlides/notesSlide3.xml" Id="Rb2979f792f1948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0fdcdbc5724752" /><Relationship Type="http://schemas.openxmlformats.org/officeDocument/2006/relationships/notesSlide" Target="/ppt/notesSlides/notesSlide4.xml" Id="Ra6c522b4984242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c93d719cb14d2a" /><Relationship Type="http://schemas.openxmlformats.org/officeDocument/2006/relationships/chart" Target="/ppt/slides/charts/chart1.xml" Id="R1965a8ae894a4b73" /><Relationship Type="http://schemas.openxmlformats.org/officeDocument/2006/relationships/notesSlide" Target="/ppt/notesSlides/notesSlide5.xml" Id="Rad49bbf394c548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8e891b4f3c4957" /><Relationship Type="http://schemas.openxmlformats.org/officeDocument/2006/relationships/chart" Target="/ppt/slides/charts/chart2.xml" Id="R91956208d29f40d3" /><Relationship Type="http://schemas.openxmlformats.org/officeDocument/2006/relationships/notesSlide" Target="/ppt/notesSlides/notesSlide6.xml" Id="R6639b8d0e7f540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6d785c4c07432a" /><Relationship Type="http://schemas.openxmlformats.org/officeDocument/2006/relationships/notesSlide" Target="/ppt/notesSlides/notesSlide7.xml" Id="Rfa2b2378621a4e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1655c2aea149ef" /><Relationship Type="http://schemas.openxmlformats.org/officeDocument/2006/relationships/image" Target="/ppt/media/image2.png" Id="R45b80483e47047a1" /><Relationship Type="http://schemas.openxmlformats.org/officeDocument/2006/relationships/notesSlide" Target="/ppt/notesSlides/notesSlide8.xml" Id="R49e86eafcca144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dec0bb30bc4c6a" /><Relationship Type="http://schemas.openxmlformats.org/officeDocument/2006/relationships/notesSlide" Target="/ppt/notesSlides/notesSlide9.xml" Id="R74a56177c00640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586444b74948f5" /><Relationship Type="http://schemas.openxmlformats.org/officeDocument/2006/relationships/notesSlide" Target="/ppt/notesSlides/notesSlide10.xml" Id="Rc0866a3d756b4a7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Earlier event model</c:v>
          </c:tx>
          <c:spPr>
            <a:solidFill xmlns:a="http://schemas.openxmlformats.org/drawingml/2006/main">
              <a:srgbClr val="B9C2CB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Nominal assets</c:v>
                </c:pt>
                <c:pt idx="1">
                  <c:v>Other assets</c:v>
                </c:pt>
                <c:pt idx="2">
                  <c:v>New excitation</c:v>
                </c:pt>
                <c:pt idx="3">
                  <c:v>Covered stress</c:v>
                </c:pt>
                <c:pt idx="4">
                  <c:v>Extreme stress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0.6125</c:v>
                </c:pt>
                <c:pt idx="1">
                  <c:v>0.6111</c:v>
                </c:pt>
                <c:pt idx="2">
                  <c:v>0.588</c:v>
                </c:pt>
                <c:pt idx="3">
                  <c:v>0.5126</c:v>
                </c:pt>
                <c:pt idx="4">
                  <c:v>0.5068</c:v>
                </c:pt>
              </c:numCache>
            </c:numRef>
          </c:val>
        </c:ser>
        <c:ser>
          <c:idx val="1"/>
          <c:order val="1"/>
          <c:tx>
            <c:v>Temporal v2</c:v>
          </c:tx>
          <c:spPr>
            <a:solidFill xmlns:a="http://schemas.openxmlformats.org/drawingml/2006/main">
              <a:srgbClr val="B88E23"/>
            </a:solidFill>
          </c:spPr>
          <c:invertIfNegative val="0"/>
          <c:cat>
            <c:strRef>
              <c:f>'Chart Data'!$C$2:$C$6</c:f>
              <c:strCache>
                <c:ptCount val="5"/>
                <c:pt idx="0">
                  <c:v>Nominal assets</c:v>
                </c:pt>
                <c:pt idx="1">
                  <c:v>Other assets</c:v>
                </c:pt>
                <c:pt idx="2">
                  <c:v>New excitation</c:v>
                </c:pt>
                <c:pt idx="3">
                  <c:v>Covered stress</c:v>
                </c:pt>
                <c:pt idx="4">
                  <c:v>Extreme stress</c:v>
                </c:pt>
              </c:strCache>
            </c:str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0.7668</c:v>
                </c:pt>
                <c:pt idx="1">
                  <c:v>0.7619</c:v>
                </c:pt>
                <c:pt idx="2">
                  <c:v>0.7228</c:v>
                </c:pt>
                <c:pt idx="3">
                  <c:v>0.7528</c:v>
                </c:pt>
                <c:pt idx="4">
                  <c:v>0.6505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Distance (km)</c:v>
          </c:tx>
          <c:spPr>
            <a:solidFill xmlns:a="http://schemas.openxmlformats.org/drawingml/2006/main">
              <a:srgbClr val="063E5F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Greedy</c:v>
                </c:pt>
                <c:pt idx="1">
                  <c:v>OR-Tools GLS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165.26</c:v>
                </c:pt>
                <c:pt idx="1">
                  <c:v>137.85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3E5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9BBD8-D47C-4752-AF24-1F69B870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PharmaColdOps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1AC69-5947-4259-8AC3-7B46BF02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Cold-chain decisions and delivery replanning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E9D9B-6F1D-4F9C-A5AB-E95DEB5F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Project Group 41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4EF69-9BA0-452E-91D2-61A5CB9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briefing  17 October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95290-B6AB-459F-AF0D-7F7699BF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38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Simulated data. Human review governs consequential actions.</a:t>
            </a:r>
          </a:p>
        </p:txBody>
      </p:sp>
    </p:spTree>
    <p:extLst>
      <p:ext uri="{BB962C8B-B14F-4D97-AF65-F5344CB8AC3E}">
        <p14:creationId xmlns:p14="http://schemas.microsoft.com/office/powerpoint/2010/main" val="214576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A641A-0916-4DCF-9D27-69318046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System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7D746-022C-464C-ACE4-D166E750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Group report, implemented architecture and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09331-9BC7-4733-B89E-F7A0800E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1B726-24CD-4189-9476-4961B7F05E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a2d913f86439b"/>
          <a:stretch xmlns:a="http://schemas.openxmlformats.org/drawingml/2006/main"/>
        </p:blipFill>
        <p:spPr>
          <a:xfrm xmlns:a="http://schemas.openxmlformats.org/drawingml/2006/main">
            <a:off x="1524000" y="1285875"/>
            <a:ext cx="9144000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9CE7E-1E7B-4488-B94B-B559ED26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Recorded evidence and effective human decisions remain separate</a:t>
            </a:r>
          </a:p>
        </p:txBody>
      </p:sp>
    </p:spTree>
    <p:extLst>
      <p:ext uri="{BB962C8B-B14F-4D97-AF65-F5344CB8AC3E}">
        <p14:creationId xmlns:p14="http://schemas.microsoft.com/office/powerpoint/2010/main" val="4047954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F2398-CB83-4269-B811-7970BF44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Rule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DB74E-B004-4238-A6C2-3295F583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M3 formal report, frozen synthetic scenarios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F145CD-582C-4DD4-B868-AB13EBB4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498BA-5033-49CD-B2A2-65667784D850}"/>
              </a:ext>
            </a:extLst>
          </p:cNvPr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110490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1905000"/>
                <a:gridCol w="2714625"/>
                <a:gridCol w="2952750"/>
              </a:tblGrid>
              <a:tr h="67627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Historical label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</a:tr>
              <a:tr h="67627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release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0.9286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</a:tr>
              <a:tr h="67627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retest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0.9412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</a:tr>
              <a:tr h="67627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quarantine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</a:tr>
              <a:tr h="67627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scrap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1.0000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572C6-4489-45CB-B307-0FB0AFC0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54/57 agreement. Macro-F1 0.7174. Quarantine recall 0/3.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B5633-5780-4107-A0C4-67C897B3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Synthetic historical scenarios, with known policy disagreements</a:t>
            </a:r>
          </a:p>
        </p:txBody>
      </p:sp>
    </p:spTree>
    <p:extLst>
      <p:ext uri="{BB962C8B-B14F-4D97-AF65-F5344CB8AC3E}">
        <p14:creationId xmlns:p14="http://schemas.microsoft.com/office/powerpoint/2010/main" val="10978648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0B3867-6F8F-4439-99D1-6B8D8FC4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Risk and candidate-cause models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6EFE7C-A7B8-424F-BE0E-EE2010BA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M4 formal report, outer five-fold experiments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E7831-8E98-4EAF-835A-503DA6B8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799AC-B09D-49EA-8E9C-F7EE644B33C1}"/>
              </a:ext>
            </a:extLst>
          </p:cNvPr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110490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29250"/>
                <a:gridCol w="5619750"/>
              </a:tblGrid>
              <a:tr h="65722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Shipment-risk measure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Five-fold result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063E5F"/>
                    </a:solidFill>
                  </a:tcPr>
                </a:tc>
              </a:tr>
              <a:tr h="65722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0.6635 +/- 0.0179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</a:tr>
              <a:tr h="65722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0.9045 +/- 0.0092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</a:tr>
              <a:tr h="65722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PR-AUC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0.7087 +/- 0.0296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1F4F6"/>
                    </a:solidFill>
                  </a:tcPr>
                </a:tc>
              </a:tr>
              <a:tr h="657225"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Brier, raw to calibrated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  <a:tc>
                  <a:txBody>
                    <a:bodyPr wrap="square" lIns="114300" tIns="114300" rIns="114300" bIns="1143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063E5F"/>
                          </a:solidFill>
                          <a:latin typeface="Arial"/>
                          <a:ea typeface="Arial"/>
                          <a:cs typeface="Arial"/>
                        </a:rPr>
                        <a:t>0.1091 to 0.0933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D9D9"/>
                      </a:solidFill>
                      <a:prstDash val="solid"/>
                    </a:lnR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D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19B8B-23DF-4B73-A056-309475B3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Monthly causes: macro-F1 0.1322, Top-1 0.1713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9D64C-9486-455C-998B-992B37E1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Random-fold full15 results. Candidate associations require review.</a:t>
            </a:r>
          </a:p>
        </p:txBody>
      </p:sp>
    </p:spTree>
    <p:extLst>
      <p:ext uri="{BB962C8B-B14F-4D97-AF65-F5344CB8AC3E}">
        <p14:creationId xmlns:p14="http://schemas.microsoft.com/office/powerpoint/2010/main" val="9236011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4D900-AB71-40EF-B36C-D18085D7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Temporal event study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9069D-A374-4695-B4DB-A61D6DA4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Event-v2 report, same five held-out simulated cohorts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04E51-ACCB-4722-9681-880CDD4B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B700E-2CFC-4CCD-A2AB-BE1B344B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906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Macro-F1 (0–1)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9D15674-CAFD-459A-A0D4-9118941C8EEE}"/>
              </a:ext>
            </a:extLst>
          </p:cNvPr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1057275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65a8ae894a4b7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07EA2-ED75-40DD-8283-1B71AA90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Supported coverage: 17.33%, 20.67%, 13.83%, 2.50%, 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E34B7-5F7F-4D3E-B96B-64AF8380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Same simulator. All 3,000 test events still require human review.</a:t>
            </a:r>
          </a:p>
        </p:txBody>
      </p:sp>
    </p:spTree>
    <p:extLst>
      <p:ext uri="{BB962C8B-B14F-4D97-AF65-F5344CB8AC3E}">
        <p14:creationId xmlns:p14="http://schemas.microsoft.com/office/powerpoint/2010/main" val="6785233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3C2ED-4937-4077-814C-2FD7C9AD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Static route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D56CA-A046-4C19-AE86-D6AE600B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M5 formal report, frozen Singapore static instance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AD37B-3C3B-46C3-9AE6-01450747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ABE44-DD4B-4040-9ACF-0F3F2207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190625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Total distance (km)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CD4A803-3F67-4882-895C-C7508C3ACE87}"/>
              </a:ext>
            </a:extLst>
          </p:cNvPr>
          <p:cNvGraphicFramePr/>
          <p:nvPr/>
        </p:nvGraphicFramePr>
        <p:xfrm>
          <a:off xmlns:a="http://schemas.openxmlformats.org/drawingml/2006/main" x="1238250" y="1524000"/>
          <a:ext xmlns:a="http://schemas.openxmlformats.org/drawingml/2006/main" cx="9620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956208d29f40d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0F7B5-BC07-4FC2-B585-645F03A5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3 vehicles in each plan. 49 static comparisons overall.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88133-7E79-431B-9396-DBAE31EF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Complete feasibility comes before fleet size and distance.</a:t>
            </a:r>
          </a:p>
        </p:txBody>
      </p:sp>
    </p:spTree>
    <p:extLst>
      <p:ext uri="{BB962C8B-B14F-4D97-AF65-F5344CB8AC3E}">
        <p14:creationId xmlns:p14="http://schemas.microsoft.com/office/powerpoint/2010/main" val="19623761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DCB18-FA7C-43DF-84EB-FACF1382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Delivery execution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FBDF0-1004-4372-94CE-CBA5098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Execution acceptance and warehouse parking contracts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548F9-0BFB-4143-9D5A-DED3EA47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8E81DA-909A-44AC-B11A-058579E2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Explicit adoption changes the operation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59599-70F5-4F38-A4DE-560DBEC6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Urgent orders share the current delivery operation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7CCDC-FD7A-4A59-A119-75176142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527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Delay and failure handling retain completed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CC68C-003F-456B-81E2-6ACFE89E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909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Day-end terminals are selected warehouses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BEBA7-7DA4-4470-A846-EE782E36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29175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Orders, progress and available resources are simulated</a:t>
            </a:r>
          </a:p>
        </p:txBody>
      </p:sp>
    </p:spTree>
    <p:extLst>
      <p:ext uri="{BB962C8B-B14F-4D97-AF65-F5344CB8AC3E}">
        <p14:creationId xmlns:p14="http://schemas.microsoft.com/office/powerpoint/2010/main" val="7957872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2F17F-0FE5-4BC3-98BF-1045B917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M6 question-answering repairs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4D7DB-82B8-4E0D-9D9D-1F7EBC5B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Observed review failures and developer software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37775-A7AE-479B-9BB3-3E738609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2109A-CCAC-4A85-A454-2F12D283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Explicit query types and visible case scope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1D918-FB17-47A7-8D5D-2FC53044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05075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Unsupported questions receive a refusal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E304E-0DDF-4FB7-B175-D68FC35D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38525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Concepts do not become case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7D2AC-2286-4E86-90A1-2B0884FC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Reference links preserve recorded provenance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BBC5D-D999-4991-BC14-63C47E443F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80483e47047a1"/>
          <a:stretch xmlns:a="http://schemas.openxmlformats.org/drawingml/2006/main"/>
        </p:blipFill>
        <p:spPr>
          <a:xfrm xmlns:a="http://schemas.openxmlformats.org/drawingml/2006/main">
            <a:off x="6783566" y="1428750"/>
            <a:ext cx="4101743" cy="40481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31E1EC-C531-466D-A804-1A3A932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Frozen review results remain distinct from repaired-system quality</a:t>
            </a:r>
          </a:p>
        </p:txBody>
      </p:sp>
    </p:spTree>
    <p:extLst>
      <p:ext uri="{BB962C8B-B14F-4D97-AF65-F5344CB8AC3E}">
        <p14:creationId xmlns:p14="http://schemas.microsoft.com/office/powerpoint/2010/main" val="1269732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7A3D99-B10C-4377-BBB1-E8A5CE6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Verification and human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4C87C-6B55-46AC-9CAB-B585D107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Release verification and frozen human-review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FD680-8AE0-42CC-ADCF-A837C8A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24725-9E85-4888-A6E2-3A4C8B5F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Full regression: 926 passed, no skips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4189B-D564-4D44-BB98-D4960865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1049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36 API workflow checks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AB91C-2FB4-4F7E-9B98-558EC458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Persistence, graph recovery and read-only advisory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17C8A1-3185-46B3-A043-DF790F8B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11049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M6: A/B descriptive review, 38 unresolved intent disagreements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E683E-32E0-4AB5-8077-2FE8590E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Current-router independent accuracy is not established</a:t>
            </a:r>
          </a:p>
        </p:txBody>
      </p:sp>
    </p:spTree>
    <p:extLst>
      <p:ext uri="{BB962C8B-B14F-4D97-AF65-F5344CB8AC3E}">
        <p14:creationId xmlns:p14="http://schemas.microsoft.com/office/powerpoint/2010/main" val="11717591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2DEE5-EF54-479D-AD88-DB8B5F77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63E5F"/>
                </a:solidFill>
                <a:latin typeface="Arial"/>
                <a:ea typeface="Arial"/>
                <a:cs typeface="Arial"/>
              </a:rPr>
              <a:t>Limitations and delivery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B0C7B-B40B-481D-A84D-370B0F90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2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272"/>
                </a:solidFill>
                <a:latin typeface="Arial"/>
                <a:ea typeface="Arial"/>
                <a:cs typeface="Arial"/>
              </a:rPr>
              <a:t>Course requirements and final delivery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6924D-A29E-48A4-9571-2D5CC0EC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D44C2-2A6C-4443-A7A4-B77C85E4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Engineering thresholds require product-level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01D50-7D8D-4937-91F3-7802C5BD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05075"/>
            <a:ext cx="1104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Model candidates cannot authorise medicine disposition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DB20B-273B-42BE-B1C5-8B109F02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The local prototype has no public-user authentication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E956F-330B-4154-958D-B30E4373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63E5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63E5F"/>
                </a:solidFill>
                <a:latin typeface="Arial"/>
                <a:ea typeface="Arial"/>
                <a:cs typeface="Arial"/>
              </a:rPr>
              <a:t>Human recordings, review and individual reports remain team tasks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EF00C-00CE-4EF9-A508-3FAC8227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88E2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88E23"/>
                </a:solidFill>
                <a:latin typeface="Arial"/>
                <a:ea typeface="Arial"/>
                <a:cs typeface="Arial"/>
              </a:rPr>
              <a:t>Runnable prototype, inspectable evidence and reproducible experiments</a:t>
            </a:r>
          </a:p>
        </p:txBody>
      </p:sp>
    </p:spTree>
    <p:extLst>
      <p:ext uri="{BB962C8B-B14F-4D97-AF65-F5344CB8AC3E}">
        <p14:creationId xmlns:p14="http://schemas.microsoft.com/office/powerpoint/2010/main" val="12140834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2026-10-23T14:44:29.2840000Z</dcterms:created>
  <dcterms:modified xsi:type="dcterms:W3CDTF">2026-10-23T14:44:29.2840000Z</dcterms:modified>
</coreProperties>
</file>