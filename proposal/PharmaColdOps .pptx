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unnel Display" panose="02010600030101010101" charset="0"/>
      <p:regular r:id="rId13"/>
    </p:embeddedFont>
    <p:embeddedFont>
      <p:font typeface="Funnel Sans" panose="02010600030101010101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7111822" cy="6858000"/>
          </a:xfrm>
          <a:prstGeom prst="rect">
            <a:avLst/>
          </a:prstGeom>
          <a:solidFill>
            <a:srgbClr val="071A35"/>
          </a:solidFill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33387" y="508000"/>
            <a:ext cx="6578435" cy="170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PHARMACOLDOPS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33387" y="2594570"/>
            <a:ext cx="6146646" cy="7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kern="0" spc="-3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PharmaColdOps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33387" y="3564830"/>
            <a:ext cx="6146646" cy="604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Intelligent System for Temperature-Excursion Disposition and Delivery Re-routing in Cold-Chain Pharmaceuticals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3387" y="6085483"/>
            <a:ext cx="6146646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kern="0" spc="-1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Group 41 · Xu Wenzhe · Zhu Jianyu · Wang Lepeng · Shen Ziyi</a:t>
            </a:r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kern="0" spc="-1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A0328771W · A0353769L · A0357864L · A0350940J</a:t>
            </a:r>
            <a:endParaRPr lang="en-US" sz="11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000" kern="0" spc="-1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IRS Practice Module · Proposal Presentation · 29 Sep 2026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86" y="431800"/>
            <a:ext cx="7111822" cy="1460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25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Cold-Chain Excursions Threaten Drug Safety</a:t>
            </a:r>
            <a:endParaRPr lang="en-US" sz="5250" dirty="0"/>
          </a:p>
        </p:txBody>
      </p:sp>
      <p:sp>
        <p:nvSpPr>
          <p:cNvPr id="5" name="Shape 2"/>
          <p:cNvSpPr/>
          <p:nvPr/>
        </p:nvSpPr>
        <p:spPr>
          <a:xfrm>
            <a:off x="4571886" y="2073970"/>
            <a:ext cx="3403515" cy="2241649"/>
          </a:xfrm>
          <a:prstGeom prst="roundRect">
            <a:avLst>
              <a:gd name="adj" fmla="val 3916"/>
            </a:avLst>
          </a:prstGeom>
          <a:solidFill>
            <a:srgbClr val="EFE7D8"/>
          </a:solidFill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800480" y="2302570"/>
            <a:ext cx="2946326" cy="4869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Temperature-Sensitive Products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0480" y="2935288"/>
            <a:ext cx="2946326" cy="8637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Vaccines and biologics can lose efficacy after even a brief deviation in transport or storage.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80193" y="2073970"/>
            <a:ext cx="3403515" cy="2241649"/>
          </a:xfrm>
          <a:prstGeom prst="roundRect">
            <a:avLst>
              <a:gd name="adj" fmla="val 3916"/>
            </a:avLst>
          </a:prstGeom>
          <a:solidFill>
            <a:srgbClr val="EFE7D8"/>
          </a:solidFill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508787" y="2302570"/>
            <a:ext cx="2946326" cy="4869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Manual, Inconsistent Decisions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508787" y="2935288"/>
            <a:ext cx="2946326" cy="11517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Common tools only raise an alarm: they record the deviation but do not decide what to do with the batch.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4572000" y="4620260"/>
            <a:ext cx="7112000" cy="1720215"/>
          </a:xfrm>
          <a:prstGeom prst="roundRect">
            <a:avLst>
              <a:gd name="adj" fmla="val 3916"/>
            </a:avLst>
          </a:prstGeom>
          <a:solidFill>
            <a:srgbClr val="EFE7D8"/>
          </a:solidFill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800480" y="4849019"/>
            <a:ext cx="6654634" cy="2434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Mixed Handling, Weak Traceability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0480" y="5238254"/>
            <a:ext cx="6654634" cy="5758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Practices vary by site and shift; the reasoning behind a disposition is rarely reconstructable.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3387" y="406400"/>
            <a:ext cx="11658308" cy="170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387" y="662484"/>
            <a:ext cx="11124922" cy="754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Where Existing Tools Fall Short</a:t>
            </a:r>
            <a:endParaRPr lang="en-US" sz="5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2916138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387" y="3582888"/>
            <a:ext cx="3505112" cy="307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Fragmented, Not Absent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3387" y="4045744"/>
            <a:ext cx="3505112" cy="9066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Monitoring exists; what is missing is a rule path linking the disposition to the order, route and evidence.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291" y="2916138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291" y="3582888"/>
            <a:ext cx="3505112" cy="307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Disconnected Workflows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343291" y="4045744"/>
            <a:ext cx="3505112" cy="9066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Disposition decisions and logistics re-routing exist in separate, siloed systems with no automated handoff.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2916138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53196" y="3582888"/>
            <a:ext cx="3505112" cy="307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Black-Box AI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153196" y="4045744"/>
            <a:ext cx="3505112" cy="9066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recommendation that cannot show its rule, evidence and limits will not be signed off in an audit.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886" y="431800"/>
            <a:ext cx="7111822" cy="150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Our Solution: PharmaColdOps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1886" y="2156420"/>
            <a:ext cx="7111822" cy="604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</a:t>
            </a:r>
            <a:r>
              <a:rPr lang="en-US" sz="1700" b="1" kern="0" spc="-3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closed-loop decision system</a:t>
            </a: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that acts the moment an excursion is detected — with full regulatory grounding and audit readiness.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1886" y="3116957"/>
            <a:ext cx="838477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0" spc="-34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1886" y="3419177"/>
            <a:ext cx="2065683" cy="19050"/>
          </a:xfrm>
          <a:prstGeom prst="rect">
            <a:avLst/>
          </a:prstGeom>
          <a:solidFill>
            <a:srgbClr val="BC3F87"/>
          </a:solidFill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1886" y="3567708"/>
            <a:ext cx="2065782" cy="502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Explainable Disposition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1886" y="4226123"/>
            <a:ext cx="2065782" cy="15111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Four outcomes with a traceable rule path; reshipment is a separate logistics action.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094856" y="3116957"/>
            <a:ext cx="838477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0" spc="-34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094856" y="3419177"/>
            <a:ext cx="2065683" cy="19050"/>
          </a:xfrm>
          <a:prstGeom prst="rect">
            <a:avLst/>
          </a:prstGeom>
          <a:solidFill>
            <a:srgbClr val="BC3F87"/>
          </a:solidFill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094856" y="3567708"/>
            <a:ext cx="2065782" cy="502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Automated Re-routing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094856" y="4226123"/>
            <a:ext cx="2065782" cy="12088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reshipment order solved as a capacity- and time-window routing problem.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617827" y="3116957"/>
            <a:ext cx="838477" cy="215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kern="0" spc="-34" dirty="0">
                <a:solidFill>
                  <a:srgbClr val="BC3F87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9617827" y="3419177"/>
            <a:ext cx="2065881" cy="19050"/>
          </a:xfrm>
          <a:prstGeom prst="rect">
            <a:avLst/>
          </a:prstGeom>
          <a:solidFill>
            <a:srgbClr val="BC3F87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617827" y="3567708"/>
            <a:ext cx="2065881" cy="502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Regulatory Grounding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617827" y="4226123"/>
            <a:ext cx="2065881" cy="12088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decision cites its rule, regulation or SOP and evidence limits.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783" y="533400"/>
            <a:ext cx="10820129" cy="474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Where PharmaColdOps Sits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783" y="1224260"/>
            <a:ext cx="11429714" cy="170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POSITIONING · MARKET CONTEXT AND RELATED WORK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588294"/>
            <a:ext cx="10820129" cy="107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783" y="1642269"/>
            <a:ext cx="2705032" cy="3810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85783" y="2956620"/>
            <a:ext cx="118663" cy="118666"/>
          </a:xfrm>
          <a:prstGeom prst="ellipse">
            <a:avLst/>
          </a:prstGeom>
          <a:solidFill>
            <a:srgbClr val="BC3F87"/>
          </a:solidFill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020340" y="2864941"/>
            <a:ext cx="10485572" cy="604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Commercial platforms already monitor temperature and automate parts of the quality process — we do not claim to be first.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5783" y="3865860"/>
            <a:ext cx="118663" cy="118666"/>
          </a:xfrm>
          <a:prstGeom prst="ellipse">
            <a:avLst/>
          </a:prstGeom>
          <a:solidFill>
            <a:srgbClr val="BC3F87"/>
          </a:solidFill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20340" y="3774182"/>
            <a:ext cx="10485572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build on existing foundations: Solomon's VRPTW benchmark, OR-Tools, gradient-boosted trees, SHAP.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783" y="4472880"/>
            <a:ext cx="118663" cy="118666"/>
          </a:xfrm>
          <a:prstGeom prst="ellipse">
            <a:avLst/>
          </a:prstGeom>
          <a:solidFill>
            <a:srgbClr val="BC3F87"/>
          </a:solidFill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020340" y="4381202"/>
            <a:ext cx="10485572" cy="604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gap we address is the unbroken, inspectable chain from event to disposition to order to route to cited evidence.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189" y="381000"/>
            <a:ext cx="11277318" cy="474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Data: Verifiable, Disclosed Provenance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071860"/>
            <a:ext cx="11277318" cy="1079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89" y="1125835"/>
            <a:ext cx="1409665" cy="3810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1872159"/>
            <a:ext cx="539736" cy="539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189" y="2538909"/>
            <a:ext cx="3555911" cy="251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Cold Chain Silent Failure (Kaggle)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189" y="2945904"/>
            <a:ext cx="3555911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≈8,000 rows — failure classification.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892" y="1872159"/>
            <a:ext cx="539736" cy="539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17892" y="2538909"/>
            <a:ext cx="3555911" cy="502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Vaccine Distribution w/ Temp Logging (Kaggle)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317892" y="3197324"/>
            <a:ext cx="3555911" cy="604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≈26,700 rows — sequence and MKT work.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595" y="1872159"/>
            <a:ext cx="539736" cy="539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78595" y="2538909"/>
            <a:ext cx="3555911" cy="251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Electric Sheep Africa Dataset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178595" y="2945904"/>
            <a:ext cx="3555911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Simulated facility-monthly records.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89" y="4106565"/>
            <a:ext cx="539736" cy="539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189" y="4773315"/>
            <a:ext cx="5486263" cy="251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CVRPLIB Benchmarks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57189" y="5180310"/>
            <a:ext cx="5486263" cy="30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Six Solomon instances + OSM road network.</a:t>
            </a:r>
            <a:endParaRPr lang="en-US" sz="1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244" y="4106565"/>
            <a:ext cx="539736" cy="539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48244" y="4773315"/>
            <a:ext cx="5486263" cy="251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Domain Rules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6248244" y="5180310"/>
            <a:ext cx="5486263" cy="6044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WHO / EU GDP / ICH · CDC. Thresholds are prototype assumptions.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09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413"/>
            <a:ext cx="7111822" cy="5207174"/>
          </a:xfrm>
          <a:prstGeom prst="rect">
            <a:avLst/>
          </a:prstGeom>
          <a:ln w="12700">
            <a:solidFill>
              <a:srgbClr val="DDD3BA"/>
            </a:solidFill>
          </a:ln>
        </p:spPr>
      </p:pic>
      <p:sp>
        <p:nvSpPr>
          <p:cNvPr id="4" name="Text 1"/>
          <p:cNvSpPr/>
          <p:nvPr/>
        </p:nvSpPr>
        <p:spPr>
          <a:xfrm>
            <a:off x="7518212" y="381000"/>
            <a:ext cx="4267093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Built and Running Today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518212" y="1546820"/>
            <a:ext cx="4673483" cy="1703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MEASURED FROM THE REPOSITORY, 2026-09-27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212" y="1910854"/>
            <a:ext cx="4267093" cy="1079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18212" y="1964829"/>
            <a:ext cx="533387" cy="38100"/>
          </a:xfrm>
          <a:prstGeom prst="roundRect">
            <a:avLst>
              <a:gd name="adj" fmla="val 49999"/>
            </a:avLst>
          </a:prstGeom>
          <a:solidFill>
            <a:srgbClr val="2B3541">
              <a:alpha val="5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7518212" y="2212479"/>
            <a:ext cx="4267093" cy="29358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23 HTTP endpoints, 15 of them dispatch operations.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One Vue 3 client, 23 components; EN/ZH and offline mode.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25 archived cases; 56 dispatch operations persisted.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305 test functions across 34 test files.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Still missing: cloud deploy, de-duplication, destination pool.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189" y="254000"/>
            <a:ext cx="11277318" cy="868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Loop Runs — and Every Number Reproduces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133856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051D3A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RESULTS AND PROGRESS · MEASURED FROM THE REPOSITORY, 2026-09-28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93392"/>
            <a:ext cx="6528816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LOOP, END TO 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49424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" y="6675120"/>
            <a:ext cx="91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/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" y="6675120"/>
            <a:ext cx="91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/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" y="6675120"/>
            <a:ext cx="91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/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" y="6675120"/>
            <a:ext cx="91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/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" y="6675120"/>
            <a:ext cx="91440" cy="91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/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5038344" cy="18288"/>
          </a:xfrm>
          <a:prstGeom prst="rect">
            <a:avLst/>
          </a:prstGeom>
          <a:solidFill>
            <a:srgbClr val="BC3F87"/>
          </a:solidFill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6528816" cy="12700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168896" y="960120"/>
            <a:ext cx="36576" cy="5257800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card1_label"/>
          <p:cNvSpPr/>
          <p:nvPr/>
        </p:nvSpPr>
        <p:spPr>
          <a:xfrm>
            <a:off x="7315200" y="1481328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DISPOSITION LAYER</a:t>
            </a:r>
            <a:endParaRPr lang="en-US" sz="1700" dirty="0"/>
          </a:p>
        </p:txBody>
      </p:sp>
      <p:sp>
        <p:nvSpPr>
          <p:cNvPr id="22" name="card1_value"/>
          <p:cNvSpPr/>
          <p:nvPr/>
        </p:nvSpPr>
        <p:spPr>
          <a:xfrm>
            <a:off x="7315200" y="1773936"/>
            <a:ext cx="3977639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54/57 · κ = 0.6434</a:t>
            </a:r>
            <a:endParaRPr lang="en-US" sz="1700" dirty="0"/>
          </a:p>
        </p:txBody>
      </p:sp>
      <p:sp>
        <p:nvSpPr>
          <p:cNvPr id="23" name="card1_desc"/>
          <p:cNvSpPr/>
          <p:nvPr/>
        </p:nvSpPr>
        <p:spPr>
          <a:xfrm>
            <a:off x="7315200" y="2286000"/>
            <a:ext cx="3977639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54/57 = 94.7% agreement against our own rubric.</a:t>
            </a:r>
            <a:endParaRPr lang="en-US" sz="1700" dirty="0"/>
          </a:p>
        </p:txBody>
      </p:sp>
      <p:sp>
        <p:nvSpPr>
          <p:cNvPr id="24" name="card2_label"/>
          <p:cNvSpPr/>
          <p:nvPr/>
        </p:nvSpPr>
        <p:spPr>
          <a:xfrm>
            <a:off x="7315200" y="30540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ROUTE LAYER</a:t>
            </a:r>
            <a:endParaRPr lang="en-US" sz="1700" dirty="0"/>
          </a:p>
        </p:txBody>
      </p:sp>
      <p:sp>
        <p:nvSpPr>
          <p:cNvPr id="25" name="card2_value"/>
          <p:cNvSpPr/>
          <p:nvPr/>
        </p:nvSpPr>
        <p:spPr>
          <a:xfrm>
            <a:off x="7315200" y="3346704"/>
            <a:ext cx="3977639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142.63 → 133.81 km</a:t>
            </a:r>
            <a:endParaRPr lang="en-US" sz="1700" dirty="0"/>
          </a:p>
        </p:txBody>
      </p:sp>
      <p:sp>
        <p:nvSpPr>
          <p:cNvPr id="26" name="card2_desc"/>
          <p:cNvSpPr/>
          <p:nvPr/>
        </p:nvSpPr>
        <p:spPr>
          <a:xfrm>
            <a:off x="7315200" y="3858768"/>
            <a:ext cx="3977639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−6.19% vs greedy, 0 violations; Solomon optima in 10 s.</a:t>
            </a:r>
            <a:endParaRPr lang="en-US" sz="1700" dirty="0"/>
          </a:p>
        </p:txBody>
      </p:sp>
      <p:sp>
        <p:nvSpPr>
          <p:cNvPr id="27" name="card3_label"/>
          <p:cNvSpPr/>
          <p:nvPr/>
        </p:nvSpPr>
        <p:spPr>
          <a:xfrm>
            <a:off x="7315200" y="4626864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RISK LAYER</a:t>
            </a:r>
            <a:endParaRPr lang="en-US" sz="1700" dirty="0"/>
          </a:p>
        </p:txBody>
      </p:sp>
      <p:sp>
        <p:nvSpPr>
          <p:cNvPr id="28" name="card3_value"/>
          <p:cNvSpPr/>
          <p:nvPr/>
        </p:nvSpPr>
        <p:spPr>
          <a:xfrm>
            <a:off x="7315200" y="4919472"/>
            <a:ext cx="3977639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F1 0.691 / ROC-AUC 0.925</a:t>
            </a:r>
            <a:endParaRPr lang="en-US" sz="1700" dirty="0"/>
          </a:p>
        </p:txBody>
      </p:sp>
      <p:sp>
        <p:nvSpPr>
          <p:cNvPr id="29" name="card3_desc"/>
          <p:cNvSpPr/>
          <p:nvPr/>
        </p:nvSpPr>
        <p:spPr>
          <a:xfrm>
            <a:off x="7315200" y="5431536"/>
            <a:ext cx="3977639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70/15/15 split; cause Top-1 0.143 vs majority baseline 0.161.</a:t>
            </a:r>
            <a:endParaRPr lang="en-US" sz="1700" dirty="0"/>
          </a:p>
        </p:txBody>
      </p:sp>
      <p:sp>
        <p:nvSpPr>
          <p:cNvPr id="30" name="loop_0"/>
          <p:cNvSpPr/>
          <p:nvPr/>
        </p:nvSpPr>
        <p:spPr>
          <a:xfrm>
            <a:off x="457200" y="4956048"/>
            <a:ext cx="6528816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PROTOTYPE EVIDENCE, 2026-09-27</a:t>
            </a:r>
            <a:endParaRPr lang="en-US" sz="1100" dirty="0"/>
          </a:p>
        </p:txBody>
      </p:sp>
      <p:sp>
        <p:nvSpPr>
          <p:cNvPr id="31" name="loop_1"/>
          <p:cNvSpPr/>
          <p:nvPr/>
        </p:nvSpPr>
        <p:spPr>
          <a:xfrm>
            <a:off x="457200" y="5321808"/>
            <a:ext cx="6528816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· one closed case → reshipment order → route on a real 19-node Singapore OSM network; graph evidence = 9 nodes / 8 relationship types (2026-09-13)</a:t>
            </a:r>
            <a:endParaRPr lang="en-US" sz="1100" dirty="0"/>
          </a:p>
        </p:txBody>
      </p:sp>
      <p:sp>
        <p:nvSpPr>
          <p:cNvPr id="32" name="loop_2"/>
          <p:cNvSpPr/>
          <p:nvPr/>
        </p:nvSpPr>
        <p:spPr>
          <a:xfrm>
            <a:off x="457200" y="5687568"/>
            <a:ext cx="6528816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· live surface: 23 API paths / 24 operations, 15 dispatch paths; 25 archived cases and 56 persisted dispatch operations</a:t>
            </a:r>
            <a:endParaRPr lang="en-US" sz="1100" dirty="0"/>
          </a:p>
        </p:txBody>
      </p:sp>
      <p:sp>
        <p:nvSpPr>
          <p:cNvPr id="33" name="loop_3"/>
          <p:cNvSpPr/>
          <p:nvPr/>
        </p:nvSpPr>
        <p:spPr>
          <a:xfrm>
            <a:off x="457200" y="6053328"/>
            <a:ext cx="6528816" cy="347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· declared limits: simulated demand and time windows; no operational savings claimed</a:t>
            </a:r>
            <a:endParaRPr lang="en-US" sz="1100" dirty="0"/>
          </a:p>
        </p:txBody>
      </p:sp>
      <p:sp>
        <p:nvSpPr>
          <p:cNvPr id="34" name="hero_lead"/>
          <p:cNvSpPr/>
          <p:nvPr/>
        </p:nvSpPr>
        <p:spPr>
          <a:xfrm>
            <a:off x="1005840" y="261518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dispositions the rule engine can assign:</a:t>
            </a:r>
            <a:endParaRPr lang="en-US" sz="1100" dirty="0"/>
          </a:p>
        </p:txBody>
      </p:sp>
      <p:sp>
        <p:nvSpPr>
          <p:cNvPr id="35" name="hero_why"/>
          <p:cNvSpPr/>
          <p:nvPr/>
        </p:nvSpPr>
        <p:spPr>
          <a:xfrm>
            <a:off x="1005840" y="2907792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700" kern="0" spc="66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release, quarantine, retest or scrap — reshipment is a separate logistics action, never a fifth outcome.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189" y="381000"/>
            <a:ext cx="11277318" cy="443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Risks, Team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1013321"/>
            <a:ext cx="5120552" cy="2772271"/>
          </a:xfrm>
          <a:prstGeom prst="rect">
            <a:avLst/>
          </a:prstGeom>
          <a:solidFill>
            <a:srgbClr val="071A35"/>
          </a:solidFill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783" y="1241921"/>
            <a:ext cx="4663363" cy="234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0" spc="-34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Risk Mitigations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547515"/>
            <a:ext cx="403513" cy="403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1002" y="1612702"/>
            <a:ext cx="4058144" cy="5464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0" spc="-34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Annotator agreement</a:t>
            </a:r>
            <a:r>
              <a:rPr lang="en-US" sz="1600" kern="0" spc="-34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κ = 0.6434 vs our 0.80 target → report it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83" y="2246412"/>
            <a:ext cx="403513" cy="4035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1002" y="2311598"/>
            <a:ext cx="4058144" cy="5464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0" spc="-34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Quarantine recall 0/3</a:t>
            </a:r>
            <a:r>
              <a:rPr lang="en-US" sz="1600" kern="0" spc="-34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3 gold cases → report support counts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3" y="2945309"/>
            <a:ext cx="403513" cy="4035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1002" y="3010495"/>
            <a:ext cx="4058144" cy="5464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0" spc="-34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Synthetic data</a:t>
            </a:r>
            <a:r>
              <a:rPr lang="en-US" sz="1600" kern="0" spc="-34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suspected-synthetic → disclose the limit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882433" y="1241921"/>
            <a:ext cx="5852073" cy="234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Team Roles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5882433" y="1661517"/>
            <a:ext cx="5851974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5882433" y="1911152"/>
            <a:ext cx="5852073" cy="234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kern="0" spc="-3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Immediate Next Steps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882433" y="2281932"/>
            <a:ext cx="5852073" cy="9140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W1: threshold review; multi-fold risk experiments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W3: integrated acceptance and failure states</a:t>
            </a:r>
            <a:endParaRPr lang="en-US" sz="1600" dirty="0"/>
          </a:p>
          <a:p>
            <a:pPr marL="325120" indent="-325120" algn="l">
              <a:lnSpc>
                <a:spcPct val="113000"/>
              </a:lnSpc>
              <a:buSzPct val="100000"/>
              <a:buChar char="•"/>
            </a:pPr>
            <a:r>
              <a:rPr lang="en-US" sz="16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W5: reproduce cleanly; videos by 25 Oct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57200" y="4090670"/>
            <a:ext cx="2590800" cy="2107565"/>
          </a:xfrm>
          <a:prstGeom prst="roundRect">
            <a:avLst>
              <a:gd name="adj" fmla="val 3271"/>
            </a:avLst>
          </a:prstGeom>
          <a:solidFill>
            <a:srgbClr val="EFE7D8"/>
          </a:solidFill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685783" y="4318992"/>
            <a:ext cx="2133547" cy="8197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0" spc="-3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Project Lead / Rules</a:t>
            </a:r>
            <a:r>
              <a:rPr lang="en-US" sz="16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Xu Wenzhe: rules, evidence, evaluation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352800" y="4090670"/>
            <a:ext cx="2590800" cy="2089785"/>
          </a:xfrm>
          <a:prstGeom prst="roundRect">
            <a:avLst>
              <a:gd name="adj" fmla="val 3271"/>
            </a:avLst>
          </a:prstGeom>
          <a:solidFill>
            <a:srgbClr val="EFE7D8"/>
          </a:solidFill>
        </p:spPr>
        <p:txBody>
          <a:bodyPr/>
          <a:lstStyle/>
          <a:p>
            <a:endParaRPr/>
          </a:p>
        </p:txBody>
      </p:sp>
      <p:sp>
        <p:nvSpPr>
          <p:cNvPr id="19" name="Text 14"/>
          <p:cNvSpPr/>
          <p:nvPr/>
        </p:nvSpPr>
        <p:spPr>
          <a:xfrm>
            <a:off x="3581310" y="4318992"/>
            <a:ext cx="2133547" cy="5464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0" spc="-3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Data &amp; ML</a:t>
            </a:r>
            <a:r>
              <a:rPr lang="en-US" sz="16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Zhu Jianyu: data, risk, causes, SHAP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248400" y="4090670"/>
            <a:ext cx="2590800" cy="2089785"/>
          </a:xfrm>
          <a:prstGeom prst="roundRect">
            <a:avLst>
              <a:gd name="adj" fmla="val 3271"/>
            </a:avLst>
          </a:prstGeom>
          <a:solidFill>
            <a:srgbClr val="EFE7D8"/>
          </a:solidFill>
        </p:spPr>
        <p:txBody>
          <a:bodyPr/>
          <a:lstStyle/>
          <a:p>
            <a:endParaRPr/>
          </a:p>
        </p:txBody>
      </p:sp>
      <p:sp>
        <p:nvSpPr>
          <p:cNvPr id="21" name="Text 16"/>
          <p:cNvSpPr/>
          <p:nvPr/>
        </p:nvSpPr>
        <p:spPr>
          <a:xfrm>
            <a:off x="6476838" y="4318992"/>
            <a:ext cx="2133547" cy="8197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0" spc="-3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Optimisation</a:t>
            </a:r>
            <a:r>
              <a:rPr lang="en-US" sz="16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Wang Lepeng: VRPTW, routes, dispatch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9144000" y="4090670"/>
            <a:ext cx="2590800" cy="2088515"/>
          </a:xfrm>
          <a:prstGeom prst="roundRect">
            <a:avLst>
              <a:gd name="adj" fmla="val 3271"/>
            </a:avLst>
          </a:prstGeom>
          <a:solidFill>
            <a:srgbClr val="EFE7D8"/>
          </a:solidFill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9372366" y="4318992"/>
            <a:ext cx="2133547" cy="8197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0" spc="-34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KG + QA + Frontend</a:t>
            </a:r>
            <a:r>
              <a:rPr lang="en-US" sz="1600" kern="0" spc="-3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· Shen Ziyi: KG, QA, API, frontend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1E6"/>
          </a:solidFill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518212" cy="6858000"/>
          </a:xfrm>
          <a:prstGeom prst="rect">
            <a:avLst/>
          </a:prstGeom>
          <a:solidFill>
            <a:srgbClr val="FAF1E6"/>
          </a:solidFill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09585" y="533400"/>
            <a:ext cx="6908627" cy="1602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2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WHAT WE COMMIT TO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769441"/>
            <a:ext cx="6375241" cy="14190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100" kern="0" spc="-3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Conclusion and Next Steps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609585" y="2359720"/>
            <a:ext cx="355293" cy="355302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5626" y="2385120"/>
            <a:ext cx="772796" cy="304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0" spc="-34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67875" y="2435920"/>
            <a:ext cx="5816951" cy="8274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0" spc="-3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reasoning path exists and carries its own critique: rule-versus-judgement disagreement, a weak cause classifier, prototype thresholds.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5" y="3492004"/>
            <a:ext cx="355293" cy="355302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05626" y="3517404"/>
            <a:ext cx="772796" cy="304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0" spc="-34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67875" y="3568204"/>
            <a:ext cx="5816951" cy="551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0" spc="-3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four IRS technique groups are covered, against a requirement of three.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5" y="4531340"/>
            <a:ext cx="355293" cy="355302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5626" y="4556740"/>
            <a:ext cx="772796" cy="304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0" spc="-34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67875" y="4607540"/>
            <a:ext cx="5816951" cy="551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0" spc="-3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By 25 Oct: integrated acceptance with failure states, clean-environment reproduction, the two videos.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585" y="5616396"/>
            <a:ext cx="355293" cy="355302"/>
          </a:xfrm>
          <a:prstGeom prst="ellipse">
            <a:avLst/>
          </a:prstGeom>
          <a:noFill/>
          <a:ln w="25399">
            <a:solidFill>
              <a:srgbClr val="05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05626" y="5641796"/>
            <a:ext cx="772796" cy="304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0" spc="-34" dirty="0">
                <a:solidFill>
                  <a:srgbClr val="051D3A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67875" y="5692596"/>
            <a:ext cx="5816951" cy="5516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0" spc="-34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 does not replace the quality lead's approval, and does not authorise real product release, destruction or transport.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12" y="0"/>
            <a:ext cx="4673483" cy="6858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09585" y="3257054"/>
            <a:ext cx="6375241" cy="12700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09585" y="4342110"/>
            <a:ext cx="6375241" cy="12700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609585" y="5381446"/>
            <a:ext cx="6375241" cy="12700"/>
          </a:xfrm>
          <a:prstGeom prst="rect">
            <a:avLst/>
          </a:prstGeom>
          <a:solidFill>
            <a:srgbClr val="000000">
              <a:alpha val="8000"/>
            </a:srgbClr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778</Words>
  <Application>Microsoft Office PowerPoint</Application>
  <PresentationFormat>宽屏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Funnel Sans SemiBold</vt:lpstr>
      <vt:lpstr>Calibri</vt:lpstr>
      <vt:lpstr>Funnel Sans Bold</vt:lpstr>
      <vt:lpstr>Funnel Sans</vt:lpstr>
      <vt:lpstr>Arial</vt:lpstr>
      <vt:lpstr>Funnel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文哲 徐</cp:lastModifiedBy>
  <cp:revision>4</cp:revision>
  <dcterms:created xsi:type="dcterms:W3CDTF">2026-09-28T05:21:53Z</dcterms:created>
  <dcterms:modified xsi:type="dcterms:W3CDTF">2026-09-28T11:27:04Z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ADC7E540F7BAAE1D71F9B96AAA608609_43</vt:lpwstr>
  </property>
  <property fmtid="{D5CDD505-2E9C-101B-9397-08002B2CF9AE}" pid="3" name="KSOProductBuildVer">
    <vt:lpwstr>2052-12.1.28496.28496</vt:lpwstr>
  </property>
</Properties>
</file>