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365" cy="6858000"/>
  <p:notesSz cx="6858000" cy="12191365"/>
  <p:embeddedFontLst>
    <p:embeddedFont>
      <p:font typeface="Funnel Sans" pitchFamily="34" charset="0"/>
      <p:regular r:id="rId17"/>
    </p:embeddedFont>
    <p:embeddedFont>
      <p:font typeface="Funnel Sans" pitchFamily="34" charset="-122"/>
      <p:regular r:id="rId18"/>
    </p:embeddedFont>
    <p:embeddedFont>
      <p:font typeface="Funnel Sans" pitchFamily="34" charset="-120"/>
      <p:regular r:id="rId19"/>
    </p:embeddedFont>
    <p:embeddedFont>
      <p:font typeface="Funnel Display" pitchFamily="34" charset="0"/>
      <p:regular r:id="rId20"/>
    </p:embeddedFont>
    <p:embeddedFont>
      <p:font typeface="Funnel Display" pitchFamily="34" charset="-122"/>
      <p:regular r:id="rId21"/>
    </p:embeddedFont>
    <p:embeddedFont>
      <p:font typeface="Funnel Display" pitchFamily="34" charset="-120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28000"/>
            </a:srgbClr>
          </a:solidFill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0" y="0"/>
            <a:ext cx="7111822" cy="6858000"/>
          </a:xfrm>
          <a:prstGeom prst="rect">
            <a:avLst/>
          </a:prstGeom>
          <a:solidFill>
            <a:srgbClr val="071A35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33387" y="508000"/>
            <a:ext cx="6578435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PHARMACOLDOPS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3387" y="2594570"/>
            <a:ext cx="6146646" cy="7543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5400" kern="0" spc="-3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PharmaColdOps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533387" y="3564830"/>
            <a:ext cx="6146646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An Intelligent System for Temperature-Excursion Disposition and Delivery Re-routing in Cold-Chain Pharmaceuticals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33387" y="6085483"/>
            <a:ext cx="6146646" cy="34071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Project Group 41 · Xu Wenzhe · Zhu Jianyu · Wang Lepeng · Shen Ziyi</a:t>
            </a:r>
            <a:endParaRPr lang="en-US" sz="11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IRS Practice Module · Proposal Presentation · 22 Sep 2026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822" y="0"/>
            <a:ext cx="507987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063898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1886" y="431800"/>
            <a:ext cx="7111822" cy="146069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525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Cold-Chain Excursions Threaten Drug Safety</a:t>
            </a:r>
            <a:endParaRPr lang="en-US" sz="5250" dirty="0"/>
          </a:p>
        </p:txBody>
      </p:sp>
      <p:sp>
        <p:nvSpPr>
          <p:cNvPr id="5" name="Shape 2"/>
          <p:cNvSpPr/>
          <p:nvPr/>
        </p:nvSpPr>
        <p:spPr>
          <a:xfrm>
            <a:off x="4571886" y="2073970"/>
            <a:ext cx="3403515" cy="2241649"/>
          </a:xfrm>
          <a:prstGeom prst="roundRect">
            <a:avLst>
              <a:gd name="adj" fmla="val 3916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800480" y="2302570"/>
            <a:ext cx="2946326" cy="48696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5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Temperature-Sensitive Products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4800480" y="2935288"/>
            <a:ext cx="2946326" cy="86379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5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Vaccines and biologics can lose efficacy after even a brief deviation in transport or storage.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80193" y="2073970"/>
            <a:ext cx="3403515" cy="2241649"/>
          </a:xfrm>
          <a:prstGeom prst="roundRect">
            <a:avLst>
              <a:gd name="adj" fmla="val 3916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508787" y="2302570"/>
            <a:ext cx="2946326" cy="48696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5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Manual, Inconsistent Decisions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508787" y="2935288"/>
            <a:ext cx="2946326" cy="115173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5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Common tools only raise an alarm: they record the deviation but do not decide what to do with the batch.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4572000" y="4620260"/>
            <a:ext cx="7112000" cy="1720215"/>
          </a:xfrm>
          <a:prstGeom prst="roundRect">
            <a:avLst>
              <a:gd name="adj" fmla="val 3916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800480" y="4849019"/>
            <a:ext cx="6654634" cy="2434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5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Mixed Handling, Weak Traceability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800480" y="5238254"/>
            <a:ext cx="6654634" cy="57586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5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Practices vary by site and shift; the reasoning behind a disposition is rarely reconstructable.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33387" y="406400"/>
            <a:ext cx="11658308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051D3A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GAP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387" y="662484"/>
            <a:ext cx="11124922" cy="7543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5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Where Existing Tools Fall Short</a:t>
            </a:r>
            <a:endParaRPr lang="en-US" sz="5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87" y="2916138"/>
            <a:ext cx="539736" cy="539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3387" y="3582888"/>
            <a:ext cx="3505112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Fragmented, Not Absent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33387" y="4045744"/>
            <a:ext cx="3505112" cy="9066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Monitoring exists; what is missing is a rule path linking the disposition to the order, route and evidence.</a:t>
            </a:r>
            <a:endParaRPr lang="en-US" sz="17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291" y="2916138"/>
            <a:ext cx="539736" cy="5397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43291" y="3582888"/>
            <a:ext cx="3505112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Disconnected Workflows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343291" y="4045744"/>
            <a:ext cx="3505112" cy="9066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Disposition decisions and logistics re-routing exist in separate, siloed systems with no automated handoff.</a:t>
            </a:r>
            <a:endParaRPr lang="en-US" sz="17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2916138"/>
            <a:ext cx="539736" cy="5397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153196" y="3582888"/>
            <a:ext cx="3505112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Black-Box AI</a:t>
            </a:r>
            <a:endParaRPr lang="en-US" sz="2200" dirty="0"/>
          </a:p>
        </p:txBody>
      </p:sp>
      <p:sp>
        <p:nvSpPr>
          <p:cNvPr id="13" name="Text 8"/>
          <p:cNvSpPr/>
          <p:nvPr/>
        </p:nvSpPr>
        <p:spPr>
          <a:xfrm>
            <a:off x="8153196" y="4045744"/>
            <a:ext cx="3505112" cy="9066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recommendation that cannot show its rule, evidence and limits will not be signed off in an audit.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063898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1886" y="431800"/>
            <a:ext cx="7111822" cy="15087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5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Our Solution: PharmaColdOps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1886" y="2156420"/>
            <a:ext cx="7111822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</a:t>
            </a:r>
            <a:r>
              <a:rPr lang="en-US" sz="1700" b="1" kern="0" spc="-34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closed-loop decision system</a:t>
            </a: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that acts the moment an excursion is detected — with full regulatory grounding and audit readiness.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571886" y="3116957"/>
            <a:ext cx="838477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kern="0" spc="-34" dirty="0">
                <a:solidFill>
                  <a:srgbClr val="BC3F87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1886" y="3419177"/>
            <a:ext cx="2065683" cy="19050"/>
          </a:xfrm>
          <a:prstGeom prst="rect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571886" y="3567708"/>
            <a:ext cx="2065782" cy="502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Explainable Disposition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1886" y="4226123"/>
            <a:ext cx="2065782" cy="151110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Four outcomes with a traceable rule path; reshipment is a separate logistics action.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094856" y="3116957"/>
            <a:ext cx="838477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kern="0" spc="-34" dirty="0">
                <a:solidFill>
                  <a:srgbClr val="BC3F87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094856" y="3419177"/>
            <a:ext cx="2065683" cy="19050"/>
          </a:xfrm>
          <a:prstGeom prst="rect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094856" y="3567708"/>
            <a:ext cx="2065782" cy="502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Automated Re-routing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094856" y="4226123"/>
            <a:ext cx="2065782" cy="120888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reshipment order solved as a capacity- and time-window routing problem.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617827" y="3116957"/>
            <a:ext cx="838477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kern="0" spc="-34" dirty="0">
                <a:solidFill>
                  <a:srgbClr val="BC3F87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617827" y="3419177"/>
            <a:ext cx="2065881" cy="19050"/>
          </a:xfrm>
          <a:prstGeom prst="rect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17827" y="3567708"/>
            <a:ext cx="2065881" cy="502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Regulatory Grounding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617827" y="4226123"/>
            <a:ext cx="2065881" cy="120888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Every decision cites its rule, regulation or SOP and evidence limits.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783" y="533400"/>
            <a:ext cx="10820129" cy="4749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Where PharmaColdOps Sits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783" y="1224260"/>
            <a:ext cx="11429714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051D3A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POSITIONING · MARKET CONTEXT AND RELATED WORK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83" y="1588294"/>
            <a:ext cx="10820129" cy="107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783" y="1642269"/>
            <a:ext cx="2705032" cy="38100"/>
          </a:xfrm>
          <a:prstGeom prst="roundRect">
            <a:avLst>
              <a:gd name="adj" fmla="val 49999"/>
            </a:avLst>
          </a:prstGeom>
          <a:solidFill>
            <a:srgbClr val="2B3541">
              <a:alpha val="50000"/>
            </a:srgbClr>
          </a:solidFill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783" y="2956620"/>
            <a:ext cx="118663" cy="118666"/>
          </a:xfrm>
          <a:prstGeom prst="ellipse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20340" y="2864941"/>
            <a:ext cx="10485572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Commercial platforms already monitor temperature and automate parts of the quality process — we do not claim to be first.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85783" y="3865860"/>
            <a:ext cx="118663" cy="118666"/>
          </a:xfrm>
          <a:prstGeom prst="ellipse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020340" y="3774182"/>
            <a:ext cx="10485572" cy="3022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We build on existing foundations: Solomon's VRPTW benchmark, OR-Tools, gradient-boosted trees, SHAP.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783" y="4472880"/>
            <a:ext cx="118663" cy="118666"/>
          </a:xfrm>
          <a:prstGeom prst="ellipse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20340" y="4381202"/>
            <a:ext cx="10485572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gap we address is the unbroken, inspectable chain from event to disposition to order to route to cited evidence.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189" y="381000"/>
            <a:ext cx="11277318" cy="4749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Data: Verifiable, Disclosed Provenance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89" y="1071860"/>
            <a:ext cx="11277318" cy="1079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189" y="1125835"/>
            <a:ext cx="1409665" cy="38100"/>
          </a:xfrm>
          <a:prstGeom prst="roundRect">
            <a:avLst>
              <a:gd name="adj" fmla="val 49999"/>
            </a:avLst>
          </a:prstGeom>
          <a:solidFill>
            <a:srgbClr val="2B3541">
              <a:alpha val="50000"/>
            </a:srgbClr>
          </a:solidFill>
        </p:spPr>
        <p:txBody>
          <a:bodyPr/>
          <a:p/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1872159"/>
            <a:ext cx="539736" cy="5397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189" y="2538909"/>
            <a:ext cx="3555911" cy="2514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Cold Chain Silent Failure (Kaggle)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457189" y="2945904"/>
            <a:ext cx="3555911" cy="3022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≈8,000 rows — failure classification.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892" y="1872159"/>
            <a:ext cx="539736" cy="5397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17892" y="2538909"/>
            <a:ext cx="3555911" cy="502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Vaccine Distribution w/ Temp Logging (Kaggle)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4317892" y="3197324"/>
            <a:ext cx="3555911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≈26,700 rows — sequence and MKT work.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595" y="1872159"/>
            <a:ext cx="539736" cy="53975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178595" y="2538909"/>
            <a:ext cx="3555911" cy="2514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Electric Sheep Africa Dataset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8178595" y="2945904"/>
            <a:ext cx="3555911" cy="3022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Simulated facility-monthly records.</a:t>
            </a:r>
            <a:endParaRPr lang="en-US" sz="17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89" y="4106565"/>
            <a:ext cx="539736" cy="5397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57189" y="4773315"/>
            <a:ext cx="5486263" cy="2514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CVRPLIB Benchmarks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457189" y="5180310"/>
            <a:ext cx="5486263" cy="3022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Six Solomon instances + OSM road network.</a:t>
            </a:r>
            <a:endParaRPr lang="en-US" sz="17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4106565"/>
            <a:ext cx="539736" cy="53975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248244" y="4773315"/>
            <a:ext cx="5486263" cy="2514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Domain Rules</a:t>
            </a:r>
            <a:endParaRPr lang="en-US" sz="1800" dirty="0"/>
          </a:p>
        </p:txBody>
      </p:sp>
      <p:sp>
        <p:nvSpPr>
          <p:cNvPr id="20" name="Text 12"/>
          <p:cNvSpPr/>
          <p:nvPr/>
        </p:nvSpPr>
        <p:spPr>
          <a:xfrm>
            <a:off x="6248244" y="5180310"/>
            <a:ext cx="5486263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WHO / EU GDP / ICH · CDC. Thresholds are prototype assumptions.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909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25413"/>
            <a:ext cx="7111822" cy="5207174"/>
          </a:xfrm>
          <a:prstGeom prst="rect">
            <a:avLst/>
          </a:prstGeom>
          <a:ln w="12700">
            <a:solidFill>
              <a:srgbClr val="DDD3BA"/>
            </a:solidFill>
          </a:ln>
        </p:spPr>
      </p:pic>
      <p:sp>
        <p:nvSpPr>
          <p:cNvPr id="4" name="Text 1"/>
          <p:cNvSpPr/>
          <p:nvPr/>
        </p:nvSpPr>
        <p:spPr>
          <a:xfrm>
            <a:off x="7518212" y="381000"/>
            <a:ext cx="4267093" cy="949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Built and Running Today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518212" y="1546820"/>
            <a:ext cx="4673483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051D3A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MEASURED FROM THE REPOSITORY, 2026-09-27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212" y="1910854"/>
            <a:ext cx="4267093" cy="1079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18212" y="1964829"/>
            <a:ext cx="533387" cy="38100"/>
          </a:xfrm>
          <a:prstGeom prst="roundRect">
            <a:avLst>
              <a:gd name="adj" fmla="val 49999"/>
            </a:avLst>
          </a:prstGeom>
          <a:solidFill>
            <a:srgbClr val="2B3541">
              <a:alpha val="50000"/>
            </a:srgbClr>
          </a:solidFill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7518212" y="2212479"/>
            <a:ext cx="4267093" cy="293588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45440" indent="-345440" algn="l">
              <a:lnSpc>
                <a:spcPct val="117000"/>
              </a:lnSpc>
              <a:buSzPct val="100000"/>
              <a:buChar char="•"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23 HTTP endpoints, 13 of them dispatch operations.</a:t>
            </a:r>
            <a:endParaRPr lang="en-US" sz="1700" dirty="0"/>
          </a:p>
          <a:p>
            <a:pPr marL="345440" indent="-345440" algn="l">
              <a:lnSpc>
                <a:spcPct val="117000"/>
              </a:lnSpc>
              <a:buSzPct val="100000"/>
              <a:buChar char="•"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One Vue 3 client, 23 components; EN/ZH and offline mode.</a:t>
            </a:r>
            <a:endParaRPr lang="en-US" sz="1700" dirty="0"/>
          </a:p>
          <a:p>
            <a:pPr marL="345440" indent="-345440" algn="l">
              <a:lnSpc>
                <a:spcPct val="117000"/>
              </a:lnSpc>
              <a:buSzPct val="100000"/>
              <a:buChar char="•"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25 archived cases; 56 dispatch operations persisted.</a:t>
            </a:r>
            <a:endParaRPr lang="en-US" sz="1700" dirty="0"/>
          </a:p>
          <a:p>
            <a:pPr marL="345440" indent="-345440" algn="l">
              <a:lnSpc>
                <a:spcPct val="117000"/>
              </a:lnSpc>
              <a:buSzPct val="100000"/>
              <a:buChar char="•"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305 test functions across 35 files.</a:t>
            </a:r>
            <a:endParaRPr lang="en-US" sz="1700" dirty="0"/>
          </a:p>
          <a:p>
            <a:pPr marL="345440" indent="-345440" algn="l">
              <a:lnSpc>
                <a:spcPct val="117000"/>
              </a:lnSpc>
              <a:buSzPct val="100000"/>
              <a:buChar char="•"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Still missing: cloud deploy, de-duplication, destination pool.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189" y="254000"/>
            <a:ext cx="11277318" cy="4749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Results So Far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944860"/>
            <a:ext cx="11734506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051D3A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EVERY NUMBER REPRODUCIBLE IN THE REPO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189" y="2574925"/>
            <a:ext cx="5262728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ENGINE VS HUMAN GOLD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189" y="2938959"/>
            <a:ext cx="5034134" cy="1117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88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94.7%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457189" y="4369395"/>
            <a:ext cx="5034134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Engine vs human gold: 54/57 = 94.7%; scrap recall 33/33.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23112" y="1308894"/>
            <a:ext cx="5811394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ANNOTATOR AGREEMENT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23112" y="1672927"/>
            <a:ext cx="5811394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κ = 0.6434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23112" y="2135783"/>
            <a:ext cx="5811394" cy="3022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Annotator agreement κ = 0.6434 — below our 0.80 target.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23112" y="2895203"/>
            <a:ext cx="5811394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ROUTING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23112" y="3259237"/>
            <a:ext cx="5811394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−6.19%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23112" y="3722092"/>
            <a:ext cx="5811394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Routing: 142.63 → 133.81 km (−6.19%, 0 violations); Solomon optima reached in 10 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923112" y="4783733"/>
            <a:ext cx="5811394" cy="1703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00" kern="0" spc="66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RISK MODEL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23112" y="5147766"/>
            <a:ext cx="5811394" cy="3072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F1 0.691 / ROC-AUC 0.925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23112" y="5610622"/>
            <a:ext cx="5811394" cy="6044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Risk model: F1 0.691 / ROC-AUC 0.925; cause Top-1 0.143 is below the majority baseline and reported as such.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700868" y="1308894"/>
            <a:ext cx="38099" cy="4931073"/>
          </a:xfrm>
          <a:prstGeom prst="rect">
            <a:avLst/>
          </a:prstGeom>
          <a:solidFill>
            <a:srgbClr val="BC3F87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923112" y="2660253"/>
            <a:ext cx="5811394" cy="12700"/>
          </a:xfrm>
          <a:prstGeom prst="rect">
            <a:avLst/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23112" y="4548783"/>
            <a:ext cx="5811394" cy="12700"/>
          </a:xfrm>
          <a:prstGeom prst="rect">
            <a:avLst/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189" y="381000"/>
            <a:ext cx="11277318" cy="4438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Risks, Team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189" y="1013321"/>
            <a:ext cx="5120552" cy="2772271"/>
          </a:xfrm>
          <a:prstGeom prst="rect">
            <a:avLst/>
          </a:prstGeom>
          <a:solidFill>
            <a:srgbClr val="071A35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783" y="1241921"/>
            <a:ext cx="4663363" cy="2349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00" kern="0" spc="-3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Risk Mitigations</a:t>
            </a:r>
            <a:endParaRPr lang="en-US" sz="1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83" y="1547515"/>
            <a:ext cx="403513" cy="40352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1002" y="1612702"/>
            <a:ext cx="4058144" cy="54649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FFFFFF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Annotator agreement</a:t>
            </a:r>
            <a:r>
              <a:rPr lang="en-US" sz="1600" kern="0" spc="-34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κ = 0.6434 vs our 0.80 target → report it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83" y="2246412"/>
            <a:ext cx="403513" cy="40352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1002" y="2311598"/>
            <a:ext cx="4058144" cy="54649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FFFFFF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Quarantine recall 0/3</a:t>
            </a:r>
            <a:r>
              <a:rPr lang="en-US" sz="1600" kern="0" spc="-34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3 gold cases → report support counts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83" y="2945309"/>
            <a:ext cx="403513" cy="40352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91002" y="3010495"/>
            <a:ext cx="4058144" cy="54649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FFFFFF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Synthetic data</a:t>
            </a:r>
            <a:r>
              <a:rPr lang="en-US" sz="1600" kern="0" spc="-34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suspected-synthetic → disclose the limit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882433" y="1241921"/>
            <a:ext cx="5852073" cy="2349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Team Roles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882433" y="1661517"/>
            <a:ext cx="5851974" cy="31651"/>
          </a:xfrm>
          <a:prstGeom prst="roundRect">
            <a:avLst>
              <a:gd name="adj" fmla="val 49998"/>
            </a:avLst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5882433" y="1911152"/>
            <a:ext cx="5852073" cy="2349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700" kern="0" spc="-3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Immediate Next Steps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882433" y="2281932"/>
            <a:ext cx="5852073" cy="91400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3000"/>
              </a:lnSpc>
              <a:buSzPct val="100000"/>
              <a:buChar char="•"/>
            </a:pP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W1: threshold review; multi-fold risk experiments</a:t>
            </a:r>
            <a:endParaRPr lang="en-US" sz="1600" dirty="0"/>
          </a:p>
          <a:p>
            <a:pPr marL="325120" indent="-325120" algn="l">
              <a:lnSpc>
                <a:spcPct val="113000"/>
              </a:lnSpc>
              <a:buSzPct val="100000"/>
              <a:buChar char="•"/>
            </a:pP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W3: integrated acceptance and failure states</a:t>
            </a:r>
            <a:endParaRPr lang="en-US" sz="1600" dirty="0"/>
          </a:p>
          <a:p>
            <a:pPr marL="325120" indent="-325120" algn="l">
              <a:lnSpc>
                <a:spcPct val="113000"/>
              </a:lnSpc>
              <a:buSzPct val="100000"/>
              <a:buChar char="•"/>
            </a:pP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W5: reproduce cleanly; videos by 25 Oct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57200" y="4090670"/>
            <a:ext cx="2590800" cy="2107565"/>
          </a:xfrm>
          <a:prstGeom prst="roundRect">
            <a:avLst>
              <a:gd name="adj" fmla="val 3271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85783" y="4318992"/>
            <a:ext cx="2133547" cy="81974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Project Lead / Rules</a:t>
            </a: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Xu Wenzhe: rules, evidence, evaluation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3352800" y="4090670"/>
            <a:ext cx="2590800" cy="2089785"/>
          </a:xfrm>
          <a:prstGeom prst="roundRect">
            <a:avLst>
              <a:gd name="adj" fmla="val 3271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3581310" y="4318992"/>
            <a:ext cx="2133547" cy="54649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Data &amp; ML</a:t>
            </a: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Zhu Jianyu: data, risk, causes, SHAP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248400" y="4090670"/>
            <a:ext cx="2590800" cy="2089785"/>
          </a:xfrm>
          <a:prstGeom prst="roundRect">
            <a:avLst>
              <a:gd name="adj" fmla="val 3271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476838" y="4318992"/>
            <a:ext cx="2133547" cy="81974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Optimisation</a:t>
            </a: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Wang Lepeng: VRPTW, routes, dispatch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9144000" y="4090670"/>
            <a:ext cx="2590800" cy="2088515"/>
          </a:xfrm>
          <a:prstGeom prst="roundRect">
            <a:avLst>
              <a:gd name="adj" fmla="val 3271"/>
            </a:avLst>
          </a:prstGeom>
          <a:solidFill>
            <a:srgbClr val="EFE7D8"/>
          </a:solidFill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9372366" y="4318992"/>
            <a:ext cx="2133547" cy="81974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0" spc="-34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KG + QA + Frontend</a:t>
            </a:r>
            <a:r>
              <a:rPr lang="en-US" sz="1600" kern="0" spc="-3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Shen Ziyi: KG, QA, API, frontend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1E6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7518212" cy="6858000"/>
          </a:xfrm>
          <a:prstGeom prst="rect">
            <a:avLst/>
          </a:prstGeom>
          <a:solidFill>
            <a:srgbClr val="FAF1E6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09585" y="533400"/>
            <a:ext cx="6908627" cy="1602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50" kern="0" spc="62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WHAT WE COMMIT TO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09585" y="769441"/>
            <a:ext cx="6375241" cy="141902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5100" kern="0" spc="-34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Conclusion and Next Steps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609585" y="2359720"/>
            <a:ext cx="355293" cy="355302"/>
          </a:xfrm>
          <a:prstGeom prst="ellipse">
            <a:avLst/>
          </a:prstGeom>
          <a:noFill/>
          <a:ln w="25399">
            <a:solidFill>
              <a:srgbClr val="051D3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05626" y="2385120"/>
            <a:ext cx="772796" cy="3046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400" kern="0" spc="-34" dirty="0">
                <a:solidFill>
                  <a:srgbClr val="051D3A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7875" y="2435920"/>
            <a:ext cx="5816951" cy="82748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kern="0" spc="-34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reasoning path exists and carries its own critique: rule-versus-judgement disagreement, a weak cause classifier, prototype thresholds.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9585" y="3492004"/>
            <a:ext cx="355293" cy="355302"/>
          </a:xfrm>
          <a:prstGeom prst="ellipse">
            <a:avLst/>
          </a:prstGeom>
          <a:noFill/>
          <a:ln w="25399">
            <a:solidFill>
              <a:srgbClr val="051D3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05626" y="3517404"/>
            <a:ext cx="772796" cy="3046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400" kern="0" spc="-34" dirty="0">
                <a:solidFill>
                  <a:srgbClr val="051D3A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67875" y="3568204"/>
            <a:ext cx="5816951" cy="5516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kern="0" spc="-34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All four IRS technique groups are covered, against a requirement of three.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585" y="4531340"/>
            <a:ext cx="355293" cy="355302"/>
          </a:xfrm>
          <a:prstGeom prst="ellipse">
            <a:avLst/>
          </a:prstGeom>
          <a:noFill/>
          <a:ln w="25399">
            <a:solidFill>
              <a:srgbClr val="051D3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05626" y="4556740"/>
            <a:ext cx="772796" cy="3046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400" kern="0" spc="-34" dirty="0">
                <a:solidFill>
                  <a:srgbClr val="051D3A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67875" y="4607540"/>
            <a:ext cx="5816951" cy="5516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kern="0" spc="-34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By 25 Oct: integrated acceptance with failure states, clean-environment reproduction, the two videos.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09585" y="5616396"/>
            <a:ext cx="355293" cy="355302"/>
          </a:xfrm>
          <a:prstGeom prst="ellipse">
            <a:avLst/>
          </a:prstGeom>
          <a:noFill/>
          <a:ln w="25399">
            <a:solidFill>
              <a:srgbClr val="051D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05626" y="5641796"/>
            <a:ext cx="772796" cy="3046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400" kern="0" spc="-34" dirty="0">
                <a:solidFill>
                  <a:srgbClr val="051D3A"/>
                </a:solidFill>
                <a:latin typeface="Funnel Sans SemiBold" pitchFamily="34" charset="0"/>
                <a:ea typeface="Funnel Sans SemiBold" pitchFamily="34" charset="-122"/>
                <a:cs typeface="Funnel Sans Semi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167875" y="5692596"/>
            <a:ext cx="5816951" cy="5516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kern="0" spc="-34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It does not replace the quality lead's approval, and does not authorise real product release, destruction or transport.</a:t>
            </a:r>
            <a:endParaRPr lang="en-US" sz="16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8212" y="0"/>
            <a:ext cx="4673483" cy="68580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09585" y="3257054"/>
            <a:ext cx="6375241" cy="12700"/>
          </a:xfrm>
          <a:prstGeom prst="rect">
            <a:avLst/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609585" y="4342110"/>
            <a:ext cx="6375241" cy="12700"/>
          </a:xfrm>
          <a:prstGeom prst="rect">
            <a:avLst/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09585" y="5381446"/>
            <a:ext cx="6375241" cy="12700"/>
          </a:xfrm>
          <a:prstGeom prst="rect">
            <a:avLst/>
          </a:prstGeom>
          <a:solidFill>
            <a:srgbClr val="000000">
              <a:alpha val="8000"/>
            </a:srgbClr>
          </a:solid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4188</Words>
  <Application>WPS 演示</Application>
  <PresentationFormat>On-screen Show (16:9)</PresentationFormat>
  <Paragraphs>177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7" baseType="lpstr">
      <vt:lpstr>Arial</vt:lpstr>
      <vt:lpstr>宋体</vt:lpstr>
      <vt:lpstr>Wingdings</vt:lpstr>
      <vt:lpstr>Funnel Sans</vt:lpstr>
      <vt:lpstr>Funnel Sans</vt:lpstr>
      <vt:lpstr>Funnel Sans</vt:lpstr>
      <vt:lpstr>Funnel Display</vt:lpstr>
      <vt:lpstr>Funnel Display</vt:lpstr>
      <vt:lpstr>Funnel Display</vt:lpstr>
      <vt:lpstr>Funnel Sans Bold</vt:lpstr>
      <vt:lpstr>苹方-简</vt:lpstr>
      <vt:lpstr>Funnel Sans Bold</vt:lpstr>
      <vt:lpstr>Funnel Sans Bold</vt:lpstr>
      <vt:lpstr>Funnel Sans SemiBold</vt:lpstr>
      <vt:lpstr>Funnel Sans SemiBold</vt:lpstr>
      <vt:lpstr>Funnel Sans SemiBold</vt:lpstr>
      <vt:lpstr>Calibri</vt:lpstr>
      <vt:lpstr>Helvetica Neue</vt:lpstr>
      <vt:lpstr>微软雅黑</vt:lpstr>
      <vt:lpstr>方正雅意黑 GB18030L2</vt:lpstr>
      <vt:lpstr>宋体</vt:lpstr>
      <vt:lpstr>Arial Unicode MS</vt:lpstr>
      <vt:lpstr>等线</vt:lpstr>
      <vt:lpstr>汉仪中等线KW</vt:lpstr>
      <vt:lpstr>汉仪书宋二KW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WPS_1644542747</cp:lastModifiedBy>
  <cp:revision>3</cp:revision>
  <dcterms:created xsi:type="dcterms:W3CDTF">2026-09-28T05:21:53Z</dcterms:created>
  <dcterms:modified xsi:type="dcterms:W3CDTF">2026-09-28T05:21:53Z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ADC7E540F7BAAE1D71F9B96AAA608609_43</vt:lpwstr>
  </property>
  <property fmtid="{D5CDD505-2E9C-101B-9397-08002B2CF9AE}" pid="3" name="KSOProductBuildVer">
    <vt:lpwstr>2052-12.1.28496.28496</vt:lpwstr>
  </property>
</Properties>
</file>