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3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7"/>
    <p:sldId id="259" r:id="rId8"/>
    <p:sldId id="260" r:id="rId25"/>
    <p:sldId id="261" r:id="rId12"/>
    <p:sldId id="262" r:id="rId26"/>
    <p:sldId id="263" r:id="rId27"/>
    <p:sldId id="264" r:id="rId15"/>
    <p:sldId id="265" r:id="rId28"/>
  </p:sldIdLst>
  <p:sldSz cx="12191365" cy="6858000"/>
  <p:notesSz cx="6858000" cy="12191365"/>
  <p:embeddedFontLst>
    <p:embeddedFont>
      <p:font typeface="Libre Baskerville" panose="02000000000000000000" pitchFamily="34" charset="0"/>
      <p:regular r:id="rId19"/>
    </p:embeddedFont>
    <p:embeddedFont>
      <p:font typeface="Libre Baskerville" panose="02000000000000000000" pitchFamily="34" charset="-122"/>
      <p:regular r:id="rId20"/>
    </p:embeddedFont>
    <p:embeddedFont>
      <p:font typeface="Libre Baskerville" panose="02000000000000000000" pitchFamily="34" charset="-120"/>
      <p:regular r:id="rId21"/>
    </p:embeddedFont>
    <p:embeddedFont>
      <p:font typeface="DM Sans" pitchFamily="34" charset="0"/>
      <p:regular r:id="rId22"/>
    </p:embeddedFont>
    <p:embeddedFont>
      <p:font typeface="DM Sans" pitchFamily="34" charset="-122"/>
      <p:regular r:id="rId23"/>
    </p:embeddedFont>
    <p:embeddedFont>
      <p:font typeface="DM Sans" pitchFamily="34" charset="-120"/>
      <p:regular r:id="rId2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Relationship Id="rId22" Type="http://schemas.openxmlformats.org/officeDocument/2006/relationships/font" Target="fonts/font4.fntdata"/><Relationship Id="rId23" Type="http://schemas.openxmlformats.org/officeDocument/2006/relationships/font" Target="fonts/font5.fntdata"/><Relationship Id="rId24" Type="http://schemas.openxmlformats.org/officeDocument/2006/relationships/font" Target="fonts/font6.fntdata"/><Relationship Id="rId25" Type="http://schemas.openxmlformats.org/officeDocument/2006/relationships/slide" Target="slides/slide5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A"/>
          </a:solidFill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sv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svg"/><Relationship Id="rId3" Type="http://schemas.openxmlformats.org/officeDocument/2006/relationships/image" Target="../media/image24.png"/><Relationship Id="rId4" Type="http://schemas.openxmlformats.org/officeDocument/2006/relationships/image" Target="../media/image25.svg"/><Relationship Id="rId5" Type="http://schemas.openxmlformats.org/officeDocument/2006/relationships/image" Target="../media/image26.png"/><Relationship Id="rId6" Type="http://schemas.openxmlformats.org/officeDocument/2006/relationships/image" Target="../media/image27.svg"/><Relationship Id="rId7" Type="http://schemas.openxmlformats.org/officeDocument/2006/relationships/image" Target="../media/image28.png"/><Relationship Id="rId8" Type="http://schemas.openxmlformats.org/officeDocument/2006/relationships/image" Target="../media/image29.svg"/><Relationship Id="rId9" Type="http://schemas.openxmlformats.org/officeDocument/2006/relationships/image" Target="../media/image30.png"/><Relationship Id="rId10" Type="http://schemas.openxmlformats.org/officeDocument/2006/relationships/image" Target="../media/image31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sv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38.png"/><Relationship Id="rId6" Type="http://schemas.openxmlformats.org/officeDocument/2006/relationships/image" Target="../media/image39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F7EDD4"/>
          </a:solidFill>
        </p:spPr>
        <p:txBody>
          <a:bodyPr wrap="square">
            <a:normAutofit/>
          </a:bodyPr>
          <a:p/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54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2280741"/>
            <a:ext cx="6296860" cy="5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5C4E3D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PharmaColdOps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5233360" y="3154859"/>
            <a:ext cx="6296860" cy="142230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 Intelligent System for Temperature-Excursion Disposition and Delivery Re-routing in Cold-Chain Pharmaceuticals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Group 41 · Xu Wenzhe · Zhu Jianyu · Wang Lepeng · Shen Ziyi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IRS Practice Module · Proposal Presentation · 22 Sep 2026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F7EDD4"/>
          </a:solidFill>
        </p:spPr>
        <p:txBody>
          <a:bodyPr wrap="square">
            <a:normAutofit/>
          </a:bodyPr>
          <a:p/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54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596602"/>
            <a:ext cx="6296860" cy="118129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5C4E3D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Cold-Chain Excursions Threaten Drug Safety</a:t>
            </a:r>
            <a:endParaRPr lang="en-US" sz="3700" dirty="0"/>
          </a:p>
        </p:txBody>
      </p:sp>
      <p:sp>
        <p:nvSpPr>
          <p:cNvPr id="5" name="Shape 2"/>
          <p:cNvSpPr/>
          <p:nvPr/>
        </p:nvSpPr>
        <p:spPr>
          <a:xfrm>
            <a:off x="5233360" y="2061369"/>
            <a:ext cx="3053877" cy="2606774"/>
          </a:xfrm>
          <a:prstGeom prst="roundRect">
            <a:avLst>
              <a:gd name="adj" fmla="val 3045"/>
            </a:avLst>
          </a:prstGeom>
          <a:solidFill>
            <a:srgbClr val="F7EDD4"/>
          </a:solidFill>
          <a:ln w="6350">
            <a:solidFill>
              <a:srgbClr val="DDD3BA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6" name="Text 3"/>
          <p:cNvSpPr/>
          <p:nvPr/>
        </p:nvSpPr>
        <p:spPr>
          <a:xfrm>
            <a:off x="5428717" y="2256730"/>
            <a:ext cx="2663163" cy="59055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54240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Temperature-Sensitive Products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5428717" y="2960688"/>
            <a:ext cx="2663163" cy="151209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Vaccines and biologics can lose efficacy after even a brief deviation in transport or storage.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8476244" y="2061369"/>
            <a:ext cx="3053976" cy="2606774"/>
          </a:xfrm>
          <a:prstGeom prst="roundRect">
            <a:avLst>
              <a:gd name="adj" fmla="val 3045"/>
            </a:avLst>
          </a:prstGeom>
          <a:solidFill>
            <a:srgbClr val="F7EDD4"/>
          </a:solidFill>
          <a:ln w="6350">
            <a:solidFill>
              <a:srgbClr val="DDD3BA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6"/>
          <p:cNvSpPr/>
          <p:nvPr/>
        </p:nvSpPr>
        <p:spPr>
          <a:xfrm>
            <a:off x="8671601" y="2256730"/>
            <a:ext cx="2663262" cy="59055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54240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Manual, Inconsistent Decisions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8671601" y="2960688"/>
            <a:ext cx="2663262" cy="151209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Common tools only raise an alarm: they record the deviation but do not decide what to do with the batch.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233360" y="4857155"/>
            <a:ext cx="6296860" cy="1404243"/>
          </a:xfrm>
          <a:prstGeom prst="roundRect">
            <a:avLst>
              <a:gd name="adj" fmla="val 5653"/>
            </a:avLst>
          </a:prstGeom>
          <a:solidFill>
            <a:srgbClr val="F7EDD4"/>
          </a:solidFill>
          <a:ln w="6350">
            <a:solidFill>
              <a:srgbClr val="DDD3BA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9"/>
          <p:cNvSpPr/>
          <p:nvPr/>
        </p:nvSpPr>
        <p:spPr>
          <a:xfrm>
            <a:off x="5428717" y="5052516"/>
            <a:ext cx="5906146" cy="2952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54240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Mixed Handling, Weak Traceability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5428717" y="5461198"/>
            <a:ext cx="5906146" cy="60483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Practices vary by site and shift; the reasoning behind a disposition is rarely reconstructable.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676797"/>
            <a:ext cx="3504219" cy="350430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633201" y="736798"/>
            <a:ext cx="1231373" cy="287139"/>
          </a:xfrm>
          <a:prstGeom prst="roundRect">
            <a:avLst>
              <a:gd name="adj" fmla="val 22118"/>
            </a:avLst>
          </a:prstGeom>
          <a:solidFill>
            <a:srgbClr val="F7EDD4"/>
          </a:solidFill>
        </p:spPr>
        <p:txBody>
          <a:bodyPr wrap="square">
            <a:normAutofit/>
          </a:bodyPr>
          <a:p/>
        </p:txBody>
      </p:sp>
      <p:sp>
        <p:nvSpPr>
          <p:cNvPr id="4" name="Text 1"/>
          <p:cNvSpPr/>
          <p:nvPr/>
        </p:nvSpPr>
        <p:spPr>
          <a:xfrm>
            <a:off x="4746605" y="793452"/>
            <a:ext cx="1614149" cy="17383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GAP ANALYSIS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633201" y="1099542"/>
            <a:ext cx="6903269" cy="118129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5C4E3D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Where Existing Tools Fall Short</a:t>
            </a:r>
            <a:endParaRPr lang="en-US" sz="37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33201" y="2493466"/>
            <a:ext cx="2175019" cy="362773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949205" y="2707878"/>
            <a:ext cx="1644609" cy="59055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54240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Fragmented, Not Absent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949205" y="3487440"/>
            <a:ext cx="1644609" cy="211693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Monitoring exists; what is missing is a rule path linking the disposition to the order, route and evidence.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97227" y="2493466"/>
            <a:ext cx="2175118" cy="362773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313231" y="2707878"/>
            <a:ext cx="1644708" cy="59055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54240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Disconnected Workflows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7313231" y="3487440"/>
            <a:ext cx="1644708" cy="241935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Disposition decisions and logistics re-routing exist in separate, siloed systems with no automated handoff.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61353" y="2493466"/>
            <a:ext cx="2175118" cy="362773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677356" y="2707878"/>
            <a:ext cx="1644708" cy="2952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54240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Black-Box AI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9677356" y="3192165"/>
            <a:ext cx="1644708" cy="241935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recommendation that cannot show its rule, evidence and limits will not be signed off in an audit.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F7EDD4"/>
          </a:solidFill>
        </p:spPr>
        <p:txBody>
          <a:bodyPr wrap="square">
            <a:normAutofit/>
          </a:bodyPr>
          <a:p/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92" y="134541"/>
            <a:ext cx="4392503" cy="65889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653058"/>
            <a:ext cx="6296860" cy="112236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5C4E3D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Our Solution: PharmaColdOps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5233360" y="2031305"/>
            <a:ext cx="6296860" cy="56018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</a:t>
            </a:r>
            <a:r>
              <a:rPr lang="en-US" sz="1400" b="1" dirty="0">
                <a:solidFill>
                  <a:srgbClr val="454240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closed-loop decision system</a:t>
            </a:r>
            <a:r>
              <a:rPr lang="en-US" sz="14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that acts the moment an excursion is detected — with full regulatory grounding and audit readiness.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233360" y="2783384"/>
            <a:ext cx="6296860" cy="3421559"/>
          </a:xfrm>
          <a:prstGeom prst="roundRect">
            <a:avLst>
              <a:gd name="adj" fmla="val 2204"/>
            </a:avLst>
          </a:prstGeom>
          <a:solidFill>
            <a:srgbClr val="F7EDD4"/>
          </a:solidFill>
          <a:ln w="6350">
            <a:solidFill>
              <a:srgbClr val="DDD3BA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4"/>
          <p:cNvSpPr/>
          <p:nvPr/>
        </p:nvSpPr>
        <p:spPr>
          <a:xfrm>
            <a:off x="5239710" y="2789734"/>
            <a:ext cx="3142080" cy="2124770"/>
          </a:xfrm>
          <a:custGeom>
            <a:avLst/>
            <a:gdLst/>
            <a:ahLst/>
            <a:cxnLst/>
            <a:rect l="l" t="t" r="r" b="b"/>
            <a:pathLst>
              <a:path w="3142080" h="2124770">
                <a:moveTo>
                  <a:pt x="62849" y="0"/>
                </a:moveTo>
                <a:lnTo>
                  <a:pt x="3142080" y="0"/>
                </a:lnTo>
                <a:lnTo>
                  <a:pt x="3142080" y="2124770"/>
                </a:lnTo>
                <a:lnTo>
                  <a:pt x="0" y="2124770"/>
                </a:lnTo>
                <a:lnTo>
                  <a:pt x="0" y="62850"/>
                </a:lnTo>
                <a:arcTo wR="62849" hR="62850" stAng="10800000" swAng="5400000"/>
                <a:close/>
              </a:path>
            </a:pathLst>
          </a:custGeom>
          <a:solidFill>
            <a:srgbClr val="F7EDD4"/>
          </a:solidFill>
        </p:spPr>
        <p:txBody>
          <a:bodyPr wrap="square">
            <a:normAutofit/>
          </a:bodyPr>
          <a:p/>
        </p:txBody>
      </p:sp>
      <p:sp>
        <p:nvSpPr>
          <p:cNvPr id="8" name="Text 5"/>
          <p:cNvSpPr/>
          <p:nvPr/>
        </p:nvSpPr>
        <p:spPr>
          <a:xfrm>
            <a:off x="5410263" y="2960291"/>
            <a:ext cx="2545096" cy="56098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454240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Explainable Disposition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5410263" y="3623568"/>
            <a:ext cx="2545096" cy="84028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Four outcomes with a traceable rule path; reshipment is a separate logistics action.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81790" y="2789734"/>
            <a:ext cx="3142080" cy="2124770"/>
          </a:xfrm>
          <a:custGeom>
            <a:avLst/>
            <a:gdLst/>
            <a:ahLst/>
            <a:cxnLst/>
            <a:rect l="l" t="t" r="r" b="b"/>
            <a:pathLst>
              <a:path w="3142080" h="2124770">
                <a:moveTo>
                  <a:pt x="0" y="0"/>
                </a:moveTo>
                <a:lnTo>
                  <a:pt x="3079231" y="0"/>
                </a:lnTo>
                <a:arcTo wR="62849" hR="62850" stAng="16200000" swAng="5400000"/>
                <a:lnTo>
                  <a:pt x="3142080" y="2124770"/>
                </a:lnTo>
                <a:lnTo>
                  <a:pt x="0" y="2124770"/>
                </a:lnTo>
                <a:lnTo>
                  <a:pt x="0" y="0"/>
                </a:lnTo>
                <a:close/>
              </a:path>
            </a:pathLst>
          </a:custGeom>
          <a:solidFill>
            <a:srgbClr val="F7EDD4"/>
          </a:solidFill>
        </p:spPr>
        <p:txBody>
          <a:bodyPr wrap="square">
            <a:normAutofit/>
          </a:bodyPr>
          <a:p/>
        </p:txBody>
      </p:sp>
      <p:sp>
        <p:nvSpPr>
          <p:cNvPr id="11" name="Shape 8"/>
          <p:cNvSpPr/>
          <p:nvPr/>
        </p:nvSpPr>
        <p:spPr>
          <a:xfrm>
            <a:off x="8381790" y="2789734"/>
            <a:ext cx="25399" cy="2124770"/>
          </a:xfrm>
          <a:prstGeom prst="roundRect">
            <a:avLst>
              <a:gd name="adj" fmla="val 50001"/>
            </a:avLst>
          </a:prstGeom>
          <a:solidFill>
            <a:srgbClr val="DDD3BA"/>
          </a:solidFill>
        </p:spPr>
        <p:txBody>
          <a:bodyPr wrap="square">
            <a:normAutofit/>
          </a:bodyPr>
          <a:p/>
        </p:txBody>
      </p:sp>
      <p:sp>
        <p:nvSpPr>
          <p:cNvPr id="12" name="Text 9"/>
          <p:cNvSpPr/>
          <p:nvPr/>
        </p:nvSpPr>
        <p:spPr>
          <a:xfrm>
            <a:off x="8808222" y="2960291"/>
            <a:ext cx="2545096" cy="56098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454240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Automated Re-routing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8808222" y="3623568"/>
            <a:ext cx="2545096" cy="112037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reshipment order solved as a capacity- and time-window routing problem.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39710" y="4914503"/>
            <a:ext cx="6284160" cy="1284089"/>
          </a:xfrm>
          <a:custGeom>
            <a:avLst/>
            <a:gdLst/>
            <a:ahLst/>
            <a:cxnLst/>
            <a:rect l="l" t="t" r="r" b="b"/>
            <a:pathLst>
              <a:path w="6284160" h="1284089">
                <a:moveTo>
                  <a:pt x="0" y="0"/>
                </a:moveTo>
                <a:lnTo>
                  <a:pt x="6284160" y="0"/>
                </a:lnTo>
                <a:lnTo>
                  <a:pt x="6284160" y="1221239"/>
                </a:lnTo>
                <a:arcTo wR="62849" hR="62850" stAng="0" swAng="5400000"/>
                <a:lnTo>
                  <a:pt x="62849" y="1284089"/>
                </a:lnTo>
                <a:arcTo wR="62849" hR="62850" stAng="5400000" swAng="5400000"/>
                <a:lnTo>
                  <a:pt x="0" y="0"/>
                </a:lnTo>
                <a:close/>
              </a:path>
            </a:pathLst>
          </a:custGeom>
          <a:solidFill>
            <a:srgbClr val="F7EDD4"/>
          </a:solidFill>
        </p:spPr>
        <p:txBody>
          <a:bodyPr wrap="square">
            <a:normAutofit/>
          </a:bodyPr>
          <a:p/>
        </p:txBody>
      </p:sp>
      <p:sp>
        <p:nvSpPr>
          <p:cNvPr id="15" name="Shape 12"/>
          <p:cNvSpPr/>
          <p:nvPr/>
        </p:nvSpPr>
        <p:spPr>
          <a:xfrm>
            <a:off x="5239710" y="4914503"/>
            <a:ext cx="6284160" cy="25400"/>
          </a:xfrm>
          <a:prstGeom prst="roundRect">
            <a:avLst>
              <a:gd name="adj" fmla="val 49999"/>
            </a:avLst>
          </a:prstGeom>
          <a:solidFill>
            <a:srgbClr val="DDD3BA"/>
          </a:solidFill>
        </p:spPr>
        <p:txBody>
          <a:bodyPr wrap="square">
            <a:normAutofit/>
          </a:bodyPr>
          <a:p/>
        </p:txBody>
      </p:sp>
      <p:sp>
        <p:nvSpPr>
          <p:cNvPr id="16" name="Text 13"/>
          <p:cNvSpPr/>
          <p:nvPr/>
        </p:nvSpPr>
        <p:spPr>
          <a:xfrm>
            <a:off x="5410263" y="5085060"/>
            <a:ext cx="5687176" cy="28049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454240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Regulatory Grounding</a:t>
            </a:r>
            <a:endParaRPr lang="en-US" sz="1750" dirty="0"/>
          </a:p>
        </p:txBody>
      </p:sp>
      <p:sp>
        <p:nvSpPr>
          <p:cNvPr id="17" name="Text 14"/>
          <p:cNvSpPr/>
          <p:nvPr/>
        </p:nvSpPr>
        <p:spPr>
          <a:xfrm>
            <a:off x="5410263" y="5467846"/>
            <a:ext cx="5687176" cy="56018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decision cites its rule, regulation or SOP and evidence limits.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157363" y="3627636"/>
            <a:ext cx="448854" cy="448866"/>
          </a:xfrm>
          <a:prstGeom prst="roundRect">
            <a:avLst>
              <a:gd name="adj" fmla="val 16802"/>
            </a:avLst>
          </a:prstGeom>
          <a:solidFill>
            <a:srgbClr val="FFFDFA"/>
          </a:solidFill>
          <a:ln w="25399">
            <a:solidFill>
              <a:srgbClr val="DDD3BA"/>
            </a:solidFill>
            <a:prstDash val="solid"/>
          </a:ln>
        </p:spPr>
        <p:txBody>
          <a:bodyPr wrap="square">
            <a:normAutofit/>
          </a:bodyPr>
          <a:p/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9577" y="3739753"/>
            <a:ext cx="224427" cy="22443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3700" b="0" i="0">
                <a:solidFill>
                  <a:srgbClr val="454240"/>
                </a:solidFill>
                <a:latin typeface="Libre Baskerville"/>
                <a:ea typeface="Libre Baskerville"/>
                <a:cs typeface="Libre Baskerville"/>
              </a:rPr>
              <a:t>Where PharmaColdOps Sits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170432"/>
            <a:ext cx="1106424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1150" b="0" i="0">
                <a:solidFill>
                  <a:srgbClr val="5C4E3D"/>
                </a:solidFill>
                <a:latin typeface="DM Sans"/>
                <a:ea typeface="DM Sans"/>
                <a:cs typeface="DM Sans"/>
              </a:rPr>
              <a:t>Positioning · market context and related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97280"/>
            <a:ext cx="2011680" cy="20320"/>
          </a:xfrm>
          <a:prstGeom prst="rect">
            <a:avLst/>
          </a:prstGeom>
          <a:solidFill>
            <a:srgbClr val="B88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1600200"/>
            <a:ext cx="1106424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spcAft>
                <a:spcPts val="1400"/>
              </a:spcAft>
            </a:pPr>
            <a:r>
              <a:rPr sz="1700" b="0" i="0">
                <a:solidFill>
                  <a:srgbClr val="454240"/>
                </a:solidFill>
                <a:latin typeface="DM Sans"/>
                <a:ea typeface="DM Sans"/>
                <a:cs typeface="DM Sans"/>
              </a:rPr>
              <a:t>● Commercial platforms already monitor temperature and automate parts of the quality process — we do not claim to be first.</a:t>
            </a:r>
          </a:p>
          <a:p>
            <a:pPr>
              <a:spcAft>
                <a:spcPts val="1400"/>
              </a:spcAft>
            </a:pPr>
            <a:r>
              <a:rPr sz="1700" b="0" i="0">
                <a:solidFill>
                  <a:srgbClr val="454240"/>
                </a:solidFill>
                <a:latin typeface="DM Sans"/>
                <a:ea typeface="DM Sans"/>
                <a:cs typeface="DM Sans"/>
              </a:rPr>
              <a:t>● We build on existing foundations: Solomon's VRPTW benchmark, OR-Tools, gradient-boosted trees, SHAP.</a:t>
            </a:r>
          </a:p>
          <a:p>
            <a:pPr>
              <a:spcAft>
                <a:spcPts val="1400"/>
              </a:spcAft>
            </a:pPr>
            <a:r>
              <a:rPr sz="1700" b="0" i="0">
                <a:solidFill>
                  <a:srgbClr val="454240"/>
                </a:solidFill>
                <a:latin typeface="DM Sans"/>
                <a:ea typeface="DM Sans"/>
                <a:cs typeface="DM Sans"/>
              </a:rPr>
              <a:t>● The gap we address is the unbroken, inspectable chain from event to disposition to order to route to cited evidence.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1050" b="0" i="1">
                <a:solidFill>
                  <a:srgbClr val="5C4E3D"/>
                </a:solidFill>
                <a:latin typeface="DM Sans"/>
                <a:ea typeface="DM Sans"/>
                <a:cs typeface="DM Sans"/>
              </a:rPr>
              <a:t>Proposal §3.2–3.3 · Figure 1. Market value still requires user interviews and operational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41970"/>
            <a:ext cx="10868745" cy="5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5C4E3D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Data: Verifiable, Disclosed Provenance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1810643"/>
            <a:ext cx="472468" cy="472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0177" y="1810643"/>
            <a:ext cx="2756724" cy="59055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54240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Cold Chain Silent Failure (Kaggle)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370177" y="2514600"/>
            <a:ext cx="2756724" cy="90725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≈8,000 rows — failure classification.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1810643"/>
            <a:ext cx="472468" cy="472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71836" y="1810643"/>
            <a:ext cx="2756724" cy="59055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54240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Vaccine Distribution w/ Temp Logging (Kaggle)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5071836" y="2514600"/>
            <a:ext cx="2756724" cy="12096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≈26,700 rows — sequence and MKT work.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64794" y="1810643"/>
            <a:ext cx="472468" cy="472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773496" y="1810643"/>
            <a:ext cx="2756724" cy="59055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54240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Electric Sheep Africa Dataset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773496" y="2514600"/>
            <a:ext cx="2756724" cy="12096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Simulated facility-monthly records.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475" y="4102298"/>
            <a:ext cx="472468" cy="4724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370177" y="4102298"/>
            <a:ext cx="2756724" cy="59055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54240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CVRPLIB Benchmarks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1370177" y="4806255"/>
            <a:ext cx="2756724" cy="12096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Six Solomon instances + OSM road network.</a:t>
            </a:r>
            <a:endParaRPr lang="en-US" sz="14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63135" y="4102298"/>
            <a:ext cx="472468" cy="47248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071836" y="4102298"/>
            <a:ext cx="2756724" cy="2952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54240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Domain Rules</a:t>
            </a:r>
            <a:endParaRPr lang="en-US" sz="1850" dirty="0"/>
          </a:p>
        </p:txBody>
      </p:sp>
      <p:sp>
        <p:nvSpPr>
          <p:cNvPr id="17" name="Text 10"/>
          <p:cNvSpPr/>
          <p:nvPr/>
        </p:nvSpPr>
        <p:spPr>
          <a:xfrm>
            <a:off x="5071836" y="4510980"/>
            <a:ext cx="2756724" cy="12096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WHO / EU GDP / ICH · CDC. Thresholds are prototype assumptions.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3700" b="0" i="0">
                <a:solidFill>
                  <a:srgbClr val="454240"/>
                </a:solidFill>
                <a:latin typeface="Libre Baskerville"/>
                <a:ea typeface="Libre Baskerville"/>
                <a:cs typeface="Libre Baskerville"/>
              </a:rPr>
              <a:t>Built and Running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170432"/>
            <a:ext cx="1106424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1150" b="0" i="0">
                <a:solidFill>
                  <a:srgbClr val="5C4E3D"/>
                </a:solidFill>
                <a:latin typeface="DM Sans"/>
                <a:ea typeface="DM Sans"/>
                <a:cs typeface="DM Sans"/>
              </a:rPr>
              <a:t>Measured from the repository, 2026-09-27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97280"/>
            <a:ext cx="2011680" cy="20320"/>
          </a:xfrm>
          <a:prstGeom prst="rect">
            <a:avLst/>
          </a:prstGeom>
          <a:solidFill>
            <a:srgbClr val="B88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pic>
        <p:nvPicPr>
          <p:cNvPr id="5" name="Picture 4" descr="frontend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0200"/>
            <a:ext cx="6766560" cy="49543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1050" b="0" i="1">
                <a:solidFill>
                  <a:srgbClr val="5C4E3D"/>
                </a:solidFill>
                <a:latin typeface="DM Sans"/>
                <a:ea typeface="DM Sans"/>
                <a:cs typeface="DM Sans"/>
              </a:rPr>
              <a:t>Screenshot: Vue client in API mode (2026-09-27; route and evidence computed live by the backend, not mocked).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1050" b="0" i="1">
                <a:solidFill>
                  <a:srgbClr val="5C4E3D"/>
                </a:solidFill>
                <a:latin typeface="DM Sans"/>
                <a:ea typeface="DM Sans"/>
                <a:cs typeface="DM Sans"/>
              </a:rPr>
              <a:t>Screenshot: the Vue client in API mode, 2026-09-27.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7543800" y="1600200"/>
            <a:ext cx="411480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spcAft>
                <a:spcPts val="900"/>
              </a:spcAft>
            </a:pPr>
            <a:r>
              <a:rPr sz="1300" b="0" i="0">
                <a:solidFill>
                  <a:srgbClr val="454240"/>
                </a:solidFill>
                <a:latin typeface="DM Sans"/>
                <a:ea typeface="DM Sans"/>
                <a:cs typeface="DM Sans"/>
              </a:rPr>
              <a:t>● 23 HTTP endpoints, 13 of them dispatch operations.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454240"/>
                </a:solidFill>
                <a:latin typeface="DM Sans"/>
                <a:ea typeface="DM Sans"/>
                <a:cs typeface="DM Sans"/>
              </a:rPr>
              <a:t>● One Vue 3 client, 23 components; EN/ZH and offline mode.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454240"/>
                </a:solidFill>
                <a:latin typeface="DM Sans"/>
                <a:ea typeface="DM Sans"/>
                <a:cs typeface="DM Sans"/>
              </a:rPr>
              <a:t>● 25 archived cases; 56 dispatch operations persisted.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454240"/>
                </a:solidFill>
                <a:latin typeface="DM Sans"/>
                <a:ea typeface="DM Sans"/>
                <a:cs typeface="DM Sans"/>
              </a:rPr>
              <a:t>● 305 test functions across 35 files.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454240"/>
                </a:solidFill>
                <a:latin typeface="DM Sans"/>
                <a:ea typeface="DM Sans"/>
                <a:cs typeface="DM Sans"/>
              </a:rPr>
              <a:t>● Still missing: cloud deploy, de-duplication, destination pool.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3700" b="0" i="0">
                <a:solidFill>
                  <a:srgbClr val="454240"/>
                </a:solidFill>
                <a:latin typeface="Libre Baskerville"/>
                <a:ea typeface="Libre Baskerville"/>
                <a:cs typeface="Libre Baskerville"/>
              </a:rPr>
              <a:t>Results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170432"/>
            <a:ext cx="1106424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1150" b="0" i="0">
                <a:solidFill>
                  <a:srgbClr val="5C4E3D"/>
                </a:solidFill>
                <a:latin typeface="DM Sans"/>
                <a:ea typeface="DM Sans"/>
                <a:cs typeface="DM Sans"/>
              </a:rPr>
              <a:t>Every number reproducible in the repo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97280"/>
            <a:ext cx="2011680" cy="20320"/>
          </a:xfrm>
          <a:prstGeom prst="rect">
            <a:avLst/>
          </a:prstGeom>
          <a:solidFill>
            <a:srgbClr val="B88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4"/>
          <p:cNvSpPr txBox="1"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1050" b="0" i="1">
                <a:solidFill>
                  <a:srgbClr val="5C4E3D"/>
                </a:solidFill>
                <a:latin typeface="DM Sans"/>
                <a:ea typeface="DM Sans"/>
                <a:cs typeface="DM Sans"/>
              </a:rPr>
              <a:t>Boundaries: suspected-synthetic data, single random split, time-bounded solver — these do not establish real-world or operational savings.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11064240" cy="40233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spcAft>
                <a:spcPts val="1600"/>
              </a:spcAft>
            </a:pPr>
            <a:r>
              <a:rPr sz="1700" b="0" i="0">
                <a:solidFill>
                  <a:srgbClr val="454240"/>
                </a:solidFill>
                <a:latin typeface="DM Sans"/>
                <a:ea typeface="DM Sans"/>
                <a:cs typeface="DM Sans"/>
              </a:rPr>
              <a:t>● Engine vs human gold: 54/57 = 94.7%; scrap recall 33/33.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454240"/>
                </a:solidFill>
                <a:latin typeface="DM Sans"/>
                <a:ea typeface="DM Sans"/>
                <a:cs typeface="DM Sans"/>
              </a:rPr>
              <a:t>● Annotator agreement κ = 0.6434 — below our 0.80 target.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454240"/>
                </a:solidFill>
                <a:latin typeface="DM Sans"/>
                <a:ea typeface="DM Sans"/>
                <a:cs typeface="DM Sans"/>
              </a:rPr>
              <a:t>● Routing: 142.63 → 133.81 km (−6.19%, 0 violations); Solomon optima reached in 10 s.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454240"/>
                </a:solidFill>
                <a:latin typeface="DM Sans"/>
                <a:ea typeface="DM Sans"/>
                <a:cs typeface="DM Sans"/>
              </a:rPr>
              <a:t>● Risk model: F1 0.691 / ROC-AUC 0.925; cause Top-1 0.143 is below the majority baseline and reported as such.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29754"/>
            <a:ext cx="10868745" cy="5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5C4E3D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Risks, Team &amp; Next Steps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525350" y="1603871"/>
            <a:ext cx="5476043" cy="3102074"/>
          </a:xfrm>
          <a:prstGeom prst="roundRect">
            <a:avLst>
              <a:gd name="adj" fmla="val 4387"/>
            </a:avLst>
          </a:prstGeom>
          <a:solidFill>
            <a:srgbClr val="063E5F"/>
          </a:solidFill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714357" y="1792883"/>
            <a:ext cx="5098029" cy="2952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Risk Mitigations</a:t>
            </a:r>
            <a:endParaRPr lang="en-US" sz="18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5198" y="2310209"/>
            <a:ext cx="283461" cy="2834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8605" y="2300784"/>
            <a:ext cx="1816650" cy="12096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Annotator agreement</a:t>
            </a:r>
            <a:r>
              <a:rPr lang="en-US" sz="14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κ = 0.6434 vs our 0.80 target → report it</a:t>
            </a:r>
            <a:endParaRPr lang="en-US" sz="14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52329" y="2310209"/>
            <a:ext cx="283461" cy="2834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995737" y="2300784"/>
            <a:ext cx="1816650" cy="12096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Quarantine recall 0/3</a:t>
            </a:r>
            <a:r>
              <a:rPr lang="en-US" sz="14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3 gold cases → report support counts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5198" y="3897908"/>
            <a:ext cx="283461" cy="2834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28605" y="3888482"/>
            <a:ext cx="4483782" cy="60483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Synthetic data</a:t>
            </a:r>
            <a:r>
              <a:rPr lang="en-US" sz="14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suspected-synthetic → disclose the limit</a:t>
            </a:r>
            <a:endParaRPr lang="en-US" sz="1450" dirty="0"/>
          </a:p>
        </p:txBody>
      </p:sp>
      <p:sp>
        <p:nvSpPr>
          <p:cNvPr id="11" name="Text 6"/>
          <p:cNvSpPr/>
          <p:nvPr/>
        </p:nvSpPr>
        <p:spPr>
          <a:xfrm>
            <a:off x="6332776" y="1792883"/>
            <a:ext cx="5203794" cy="2952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5C4E3D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Team Roles</a:t>
            </a:r>
            <a:endParaRPr lang="en-US" sz="1850" dirty="0"/>
          </a:p>
        </p:txBody>
      </p:sp>
      <p:sp>
        <p:nvSpPr>
          <p:cNvPr id="12" name="Shape 7"/>
          <p:cNvSpPr/>
          <p:nvPr/>
        </p:nvSpPr>
        <p:spPr>
          <a:xfrm>
            <a:off x="6332776" y="2348012"/>
            <a:ext cx="5203794" cy="25400"/>
          </a:xfrm>
          <a:prstGeom prst="roundRect">
            <a:avLst>
              <a:gd name="adj" fmla="val 49999"/>
            </a:avLst>
          </a:prstGeom>
          <a:solidFill>
            <a:srgbClr val="454240">
              <a:alpha val="50000"/>
            </a:srgbClr>
          </a:solidFill>
        </p:spPr>
        <p:txBody>
          <a:bodyPr wrap="square">
            <a:normAutofit/>
          </a:bodyPr>
          <a:p/>
        </p:txBody>
      </p:sp>
      <p:sp>
        <p:nvSpPr>
          <p:cNvPr id="13" name="Text 8"/>
          <p:cNvSpPr/>
          <p:nvPr/>
        </p:nvSpPr>
        <p:spPr>
          <a:xfrm>
            <a:off x="6332776" y="2633266"/>
            <a:ext cx="5203794" cy="2952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5C4E3D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Immediate Next Steps</a:t>
            </a:r>
            <a:endParaRPr lang="en-US" sz="1850" dirty="0"/>
          </a:p>
        </p:txBody>
      </p:sp>
      <p:sp>
        <p:nvSpPr>
          <p:cNvPr id="14" name="Text 9"/>
          <p:cNvSpPr/>
          <p:nvPr/>
        </p:nvSpPr>
        <p:spPr>
          <a:xfrm>
            <a:off x="6332776" y="3117552"/>
            <a:ext cx="5203794" cy="103941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W1: threshold review; multi-fold risk experiments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W3: integrated acceptance and failure states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W5: reproduce cleanly; videos by 25 Oct</a:t>
            </a:r>
            <a:endParaRPr lang="en-US" sz="14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6075" y="4893171"/>
            <a:ext cx="2565336" cy="126047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01281" y="4918571"/>
            <a:ext cx="2300131" cy="12096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454240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Project Lead / Rules</a:t>
            </a: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· Xu Wenzhe: rules, evidence, evaluation</a:t>
            </a:r>
            <a:endParaRPr lang="en-US" sz="145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12246" y="4893171"/>
            <a:ext cx="2565435" cy="126047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677451" y="4918571"/>
            <a:ext cx="2300230" cy="90725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454240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Data &amp; ML</a:t>
            </a: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· Zhu Jianyu: data, risk, causes, SHAP</a:t>
            </a:r>
            <a:endParaRPr lang="en-US" sz="145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88515" y="4893171"/>
            <a:ext cx="2565435" cy="1260475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453721" y="4918571"/>
            <a:ext cx="2300230" cy="90725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454240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Optimisation</a:t>
            </a: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· Wang Lepeng: VRPTW, routes, dispatch</a:t>
            </a:r>
            <a:endParaRPr lang="en-US" sz="145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64785" y="4893171"/>
            <a:ext cx="2565435" cy="126047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9229990" y="4918571"/>
            <a:ext cx="2300230" cy="12096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454240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KG + QA + Frontend</a:t>
            </a:r>
            <a:r>
              <a:rPr lang="en-US" sz="14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· Shen Ziyi: KG, QA, API, frontend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3700" b="0" i="0">
                <a:solidFill>
                  <a:srgbClr val="454240"/>
                </a:solidFill>
                <a:latin typeface="Libre Baskerville"/>
                <a:ea typeface="Libre Baskerville"/>
                <a:cs typeface="Libre Baskerville"/>
              </a:rPr>
              <a:t>Conclusion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170432"/>
            <a:ext cx="1106424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1150" b="0" i="0">
                <a:solidFill>
                  <a:srgbClr val="5C4E3D"/>
                </a:solidFill>
                <a:latin typeface="DM Sans"/>
                <a:ea typeface="DM Sans"/>
                <a:cs typeface="DM Sans"/>
              </a:rPr>
              <a:t>What we commit 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97280"/>
            <a:ext cx="2011680" cy="20320"/>
          </a:xfrm>
          <a:prstGeom prst="rect">
            <a:avLst/>
          </a:prstGeom>
          <a:solidFill>
            <a:srgbClr val="B88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4"/>
          <p:cNvSpPr txBox="1"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1050" b="0" i="1">
                <a:solidFill>
                  <a:srgbClr val="5C4E3D"/>
                </a:solidFill>
                <a:latin typeface="DM Sans"/>
                <a:ea typeface="DM Sans"/>
                <a:cs typeface="DM Sans"/>
              </a:rPr>
              <a:t>Thank you — we are happy to take questions.</a:t>
            </a:r>
          </a:p>
        </p:txBody>
      </p:sp>
      <p:sp>
        <p:nvSpPr>
          <p:cNvPr id="7" name="TextBox 3"/>
          <p:cNvSpPr txBox="1"/>
          <p:nvPr/>
        </p:nvSpPr>
        <p:spPr>
          <a:xfrm>
            <a:off x="566928" y="1828800"/>
            <a:ext cx="11064240" cy="40233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spcAft>
                <a:spcPts val="1600"/>
              </a:spcAft>
            </a:pPr>
            <a:r>
              <a:rPr sz="1700" b="0" i="0">
                <a:solidFill>
                  <a:srgbClr val="454240"/>
                </a:solidFill>
                <a:latin typeface="DM Sans"/>
                <a:ea typeface="DM Sans"/>
                <a:cs typeface="DM Sans"/>
              </a:rPr>
              <a:t>● The reasoning path exists and carries its own critique: rule-versus-judgement disagreement, a weak cause classifier, prototype thresholds.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454240"/>
                </a:solidFill>
                <a:latin typeface="DM Sans"/>
                <a:ea typeface="DM Sans"/>
                <a:cs typeface="DM Sans"/>
              </a:rPr>
              <a:t>● All four IRS technique groups are covered, against a requirement of three.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454240"/>
                </a:solidFill>
                <a:latin typeface="DM Sans"/>
                <a:ea typeface="DM Sans"/>
                <a:cs typeface="DM Sans"/>
              </a:rPr>
              <a:t>● By 25 Oct: integrated acceptance with failure states, clean-environment reproduction, the two videos.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454240"/>
                </a:solidFill>
                <a:latin typeface="DM Sans"/>
                <a:ea typeface="DM Sans"/>
                <a:cs typeface="DM Sans"/>
              </a:rPr>
              <a:t>● It does not replace the quality lead's approval, and does not authorise real product release, destruction or transport.</a:t>
            </a:r>
          </a:p>
        </p:txBody>
      </p:sp>
      <p:sp>
        <p:nvSpPr>
          <p:cNvPr id="8" name="TextBox 4"/>
          <p:cNvSpPr txBox="1"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1050" b="0" i="1">
                <a:solidFill>
                  <a:srgbClr val="5C4E3D"/>
                </a:solidFill>
                <a:latin typeface="DM Sans"/>
                <a:ea typeface="DM Sans"/>
                <a:cs typeface="DM Sans"/>
              </a:rPr>
              <a:t>Thank you — we are happy to take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5837</Words>
  <Application>WPS 文字</Application>
  <PresentationFormat>On-screen Show (16:9)</PresentationFormat>
  <Paragraphs>254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22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35" baseType="lpstr">
      <vt:lpstr>Arial</vt:lpstr>
      <vt:lpstr>宋体</vt:lpstr>
      <vt:lpstr>Wingdings</vt:lpstr>
      <vt:lpstr>Libre Baskerville</vt:lpstr>
      <vt:lpstr>Libre Baskerville</vt:lpstr>
      <vt:lpstr>Libre Baskerville</vt:lpstr>
      <vt:lpstr>DM Sans</vt:lpstr>
      <vt:lpstr>DM Sans</vt:lpstr>
      <vt:lpstr>DM Sans</vt:lpstr>
      <vt:lpstr>DM Sans Bold</vt:lpstr>
      <vt:lpstr>苹方-简</vt:lpstr>
      <vt:lpstr>DM Sans Bold</vt:lpstr>
      <vt:lpstr>DM Sans Bold</vt:lpstr>
      <vt:lpstr>Calibri</vt:lpstr>
      <vt:lpstr>Helvetica Neue</vt:lpstr>
      <vt:lpstr>微软雅黑</vt:lpstr>
      <vt:lpstr>方正雅意黑 GB18030L2</vt:lpstr>
      <vt:lpstr>汉仪书宋二KW</vt:lpstr>
      <vt:lpstr>宋体</vt:lpstr>
      <vt:lpstr>Arial Unicode MS</vt:lpstr>
      <vt:lpstr>等线</vt:lpstr>
      <vt:lpstr>汉仪中等线KW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WPS_1644542747</cp:lastModifiedBy>
  <cp:revision>2</cp:revision>
  <dcterms:created xsi:type="dcterms:W3CDTF">2026-09-07T12:38:13Z</dcterms:created>
  <dcterms:modified xsi:type="dcterms:W3CDTF">2026-09-07T12:38:13Z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98ADED99883AC23F35B09E6A84D1409B_43</vt:lpwstr>
  </property>
  <property fmtid="{D5CDD505-2E9C-101B-9397-08002B2CF9AE}" pid="3" name="KSOProductBuildVer">
    <vt:lpwstr>2052-12.1.26055.26055</vt:lpwstr>
  </property>
</Properties>
</file>